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8288000" cy="10287000"/>
  <p:notesSz cx="6858000" cy="9144000"/>
  <p:embeddedFontLst>
    <p:embeddedFont>
      <p:font typeface="Times New Roman Bold" panose="02020803070505020304" pitchFamily="18" charset="0"/>
      <p:regular r:id="rId10"/>
      <p:bold r:id="rId1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1" d="100"/>
          <a:sy n="51" d="100"/>
        </p:scale>
        <p:origin x="898" y="4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jpeg"/><Relationship Id="rId5" Type="http://schemas.openxmlformats.org/officeDocument/2006/relationships/image" Target="../media/image5.png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3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9384499" y="-134221"/>
            <a:ext cx="28653467" cy="10866818"/>
            <a:chOff x="0" y="0"/>
            <a:chExt cx="38204622" cy="14489090"/>
          </a:xfrm>
        </p:grpSpPr>
        <p:sp>
          <p:nvSpPr>
            <p:cNvPr id="3" name="Freeform 3"/>
            <p:cNvSpPr/>
            <p:nvPr/>
          </p:nvSpPr>
          <p:spPr>
            <a:xfrm>
              <a:off x="0" y="4654235"/>
              <a:ext cx="37049113" cy="9834855"/>
            </a:xfrm>
            <a:custGeom>
              <a:avLst/>
              <a:gdLst/>
              <a:ahLst/>
              <a:cxnLst/>
              <a:rect l="l" t="t" r="r" b="b"/>
              <a:pathLst>
                <a:path w="37049113" h="9834855">
                  <a:moveTo>
                    <a:pt x="0" y="0"/>
                  </a:moveTo>
                  <a:lnTo>
                    <a:pt x="37049113" y="0"/>
                  </a:lnTo>
                  <a:lnTo>
                    <a:pt x="37049113" y="9834855"/>
                  </a:lnTo>
                  <a:lnTo>
                    <a:pt x="0" y="98348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12360216" y="8034598"/>
              <a:ext cx="24688897" cy="6110502"/>
            </a:xfrm>
            <a:custGeom>
              <a:avLst/>
              <a:gdLst/>
              <a:ahLst/>
              <a:cxnLst/>
              <a:rect l="l" t="t" r="r" b="b"/>
              <a:pathLst>
                <a:path w="24688897" h="6110502">
                  <a:moveTo>
                    <a:pt x="0" y="0"/>
                  </a:moveTo>
                  <a:lnTo>
                    <a:pt x="24688897" y="0"/>
                  </a:lnTo>
                  <a:lnTo>
                    <a:pt x="24688897" y="6110502"/>
                  </a:lnTo>
                  <a:lnTo>
                    <a:pt x="0" y="61105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47000"/>
              </a:blip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 flipH="1" flipV="1">
              <a:off x="13515725" y="0"/>
              <a:ext cx="24688897" cy="6110502"/>
            </a:xfrm>
            <a:custGeom>
              <a:avLst/>
              <a:gdLst/>
              <a:ahLst/>
              <a:cxnLst/>
              <a:rect l="l" t="t" r="r" b="b"/>
              <a:pathLst>
                <a:path w="24688897" h="6110502">
                  <a:moveTo>
                    <a:pt x="24688897" y="6110502"/>
                  </a:moveTo>
                  <a:lnTo>
                    <a:pt x="0" y="6110502"/>
                  </a:lnTo>
                  <a:lnTo>
                    <a:pt x="0" y="0"/>
                  </a:lnTo>
                  <a:lnTo>
                    <a:pt x="24688897" y="0"/>
                  </a:lnTo>
                  <a:lnTo>
                    <a:pt x="24688897" y="6110502"/>
                  </a:lnTo>
                  <a:close/>
                </a:path>
              </a:pathLst>
            </a:custGeom>
            <a:blipFill>
              <a:blip r:embed="rId3">
                <a:alphaModFix amt="47000"/>
              </a:blip>
              <a:stretch>
                <a:fillRect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-3657933" y="-1679534"/>
            <a:ext cx="25603866" cy="13646068"/>
            <a:chOff x="0" y="0"/>
            <a:chExt cx="34138488" cy="18194757"/>
          </a:xfrm>
        </p:grpSpPr>
        <p:sp>
          <p:nvSpPr>
            <p:cNvPr id="7" name="Freeform 7"/>
            <p:cNvSpPr/>
            <p:nvPr/>
          </p:nvSpPr>
          <p:spPr>
            <a:xfrm rot="-4361021">
              <a:off x="22215114" y="5682189"/>
              <a:ext cx="15140415" cy="4399230"/>
            </a:xfrm>
            <a:custGeom>
              <a:avLst/>
              <a:gdLst/>
              <a:ahLst/>
              <a:cxnLst/>
              <a:rect l="l" t="t" r="r" b="b"/>
              <a:pathLst>
                <a:path w="15140415" h="4399230">
                  <a:moveTo>
                    <a:pt x="0" y="0"/>
                  </a:moveTo>
                  <a:lnTo>
                    <a:pt x="15140414" y="0"/>
                  </a:lnTo>
                  <a:lnTo>
                    <a:pt x="15140414" y="4399230"/>
                  </a:lnTo>
                  <a:lnTo>
                    <a:pt x="0" y="43992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8" name="Freeform 8"/>
            <p:cNvSpPr/>
            <p:nvPr/>
          </p:nvSpPr>
          <p:spPr>
            <a:xfrm rot="-4361021" flipH="1" flipV="1">
              <a:off x="-3217040" y="8113338"/>
              <a:ext cx="15140415" cy="4399230"/>
            </a:xfrm>
            <a:custGeom>
              <a:avLst/>
              <a:gdLst/>
              <a:ahLst/>
              <a:cxnLst/>
              <a:rect l="l" t="t" r="r" b="b"/>
              <a:pathLst>
                <a:path w="15140415" h="4399230">
                  <a:moveTo>
                    <a:pt x="15140414" y="4399230"/>
                  </a:moveTo>
                  <a:lnTo>
                    <a:pt x="0" y="4399230"/>
                  </a:lnTo>
                  <a:lnTo>
                    <a:pt x="0" y="0"/>
                  </a:lnTo>
                  <a:lnTo>
                    <a:pt x="15140414" y="0"/>
                  </a:lnTo>
                  <a:lnTo>
                    <a:pt x="15140414" y="439923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9" name="Freeform 9"/>
          <p:cNvSpPr/>
          <p:nvPr/>
        </p:nvSpPr>
        <p:spPr>
          <a:xfrm flipH="1" flipV="1">
            <a:off x="-603580" y="-100504"/>
            <a:ext cx="27786835" cy="7376142"/>
          </a:xfrm>
          <a:custGeom>
            <a:avLst/>
            <a:gdLst/>
            <a:ahLst/>
            <a:cxnLst/>
            <a:rect l="l" t="t" r="r" b="b"/>
            <a:pathLst>
              <a:path w="27786835" h="7376142">
                <a:moveTo>
                  <a:pt x="27786835" y="7376142"/>
                </a:moveTo>
                <a:lnTo>
                  <a:pt x="0" y="7376142"/>
                </a:lnTo>
                <a:lnTo>
                  <a:pt x="0" y="0"/>
                </a:lnTo>
                <a:lnTo>
                  <a:pt x="27786835" y="0"/>
                </a:lnTo>
                <a:lnTo>
                  <a:pt x="27786835" y="7376142"/>
                </a:lnTo>
                <a:close/>
              </a:path>
            </a:pathLst>
          </a:custGeom>
          <a:blipFill>
            <a:blip r:embed="rId2">
              <a:alphaModFix amt="10999"/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 rot="-5400000">
            <a:off x="11499449" y="3410327"/>
            <a:ext cx="7290002" cy="9545678"/>
          </a:xfrm>
          <a:custGeom>
            <a:avLst/>
            <a:gdLst/>
            <a:ahLst/>
            <a:cxnLst/>
            <a:rect l="l" t="t" r="r" b="b"/>
            <a:pathLst>
              <a:path w="7290002" h="9545678">
                <a:moveTo>
                  <a:pt x="0" y="0"/>
                </a:moveTo>
                <a:lnTo>
                  <a:pt x="7290002" y="0"/>
                </a:lnTo>
                <a:lnTo>
                  <a:pt x="7290002" y="9545678"/>
                </a:lnTo>
                <a:lnTo>
                  <a:pt x="0" y="954567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r="-156749"/>
            </a:stretch>
          </a:blipFill>
        </p:spPr>
      </p:sp>
      <p:sp>
        <p:nvSpPr>
          <p:cNvPr id="11" name="Freeform 11"/>
          <p:cNvSpPr/>
          <p:nvPr/>
        </p:nvSpPr>
        <p:spPr>
          <a:xfrm flipH="1" flipV="1">
            <a:off x="-1090470" y="-1957583"/>
            <a:ext cx="8523090" cy="8229600"/>
          </a:xfrm>
          <a:custGeom>
            <a:avLst/>
            <a:gdLst/>
            <a:ahLst/>
            <a:cxnLst/>
            <a:rect l="l" t="t" r="r" b="b"/>
            <a:pathLst>
              <a:path w="8523090" h="8229600">
                <a:moveTo>
                  <a:pt x="8523091" y="8229600"/>
                </a:moveTo>
                <a:lnTo>
                  <a:pt x="0" y="8229600"/>
                </a:lnTo>
                <a:lnTo>
                  <a:pt x="0" y="0"/>
                </a:lnTo>
                <a:lnTo>
                  <a:pt x="8523091" y="0"/>
                </a:lnTo>
                <a:lnTo>
                  <a:pt x="8523091" y="8229600"/>
                </a:lnTo>
                <a:close/>
              </a:path>
            </a:pathLst>
          </a:custGeom>
          <a:blipFill>
            <a:blip r:embed="rId6"/>
            <a:stretch>
              <a:fillRect l="-89326"/>
            </a:stretch>
          </a:blipFill>
          <a:ln cap="sq">
            <a:noFill/>
            <a:prstDash val="solid"/>
            <a:miter/>
          </a:ln>
        </p:spPr>
      </p:sp>
      <p:sp>
        <p:nvSpPr>
          <p:cNvPr id="12" name="TextBox 12"/>
          <p:cNvSpPr txBox="1"/>
          <p:nvPr/>
        </p:nvSpPr>
        <p:spPr>
          <a:xfrm>
            <a:off x="2787172" y="2675447"/>
            <a:ext cx="12713656" cy="4193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350"/>
              </a:lnSpc>
            </a:pPr>
            <a:r>
              <a:rPr lang="en-US" sz="13080" b="1">
                <a:solidFill>
                  <a:srgbClr val="233D7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RESEARCH PROJECT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656247" y="6949157"/>
            <a:ext cx="8633590" cy="5785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18"/>
              </a:lnSpc>
            </a:pPr>
            <a:r>
              <a:rPr lang="en-US" sz="3227" b="1">
                <a:solidFill>
                  <a:srgbClr val="233D7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By Palak Tripathi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0" y="-479322"/>
            <a:ext cx="27786835" cy="7376142"/>
            <a:chOff x="0" y="0"/>
            <a:chExt cx="37049113" cy="983485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7049113" cy="9834855"/>
            </a:xfrm>
            <a:custGeom>
              <a:avLst/>
              <a:gdLst/>
              <a:ahLst/>
              <a:cxnLst/>
              <a:rect l="l" t="t" r="r" b="b"/>
              <a:pathLst>
                <a:path w="37049113" h="9834855">
                  <a:moveTo>
                    <a:pt x="0" y="0"/>
                  </a:moveTo>
                  <a:lnTo>
                    <a:pt x="37049113" y="0"/>
                  </a:lnTo>
                  <a:lnTo>
                    <a:pt x="37049113" y="9834855"/>
                  </a:lnTo>
                  <a:lnTo>
                    <a:pt x="0" y="98348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12360216" y="3380364"/>
              <a:ext cx="24688897" cy="6110502"/>
            </a:xfrm>
            <a:custGeom>
              <a:avLst/>
              <a:gdLst/>
              <a:ahLst/>
              <a:cxnLst/>
              <a:rect l="l" t="t" r="r" b="b"/>
              <a:pathLst>
                <a:path w="24688897" h="6110502">
                  <a:moveTo>
                    <a:pt x="0" y="0"/>
                  </a:moveTo>
                  <a:lnTo>
                    <a:pt x="24688897" y="0"/>
                  </a:lnTo>
                  <a:lnTo>
                    <a:pt x="24688897" y="6110502"/>
                  </a:lnTo>
                  <a:lnTo>
                    <a:pt x="0" y="61105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47000"/>
              </a:blip>
              <a:stretch>
                <a:fillRect/>
              </a:stretch>
            </a:blipFill>
          </p:spPr>
        </p:sp>
      </p:grpSp>
      <p:grpSp>
        <p:nvGrpSpPr>
          <p:cNvPr id="5" name="Group 5"/>
          <p:cNvGrpSpPr/>
          <p:nvPr/>
        </p:nvGrpSpPr>
        <p:grpSpPr>
          <a:xfrm>
            <a:off x="-9384499" y="3356455"/>
            <a:ext cx="27786835" cy="7376142"/>
            <a:chOff x="0" y="0"/>
            <a:chExt cx="37049113" cy="9834855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7049113" cy="9834855"/>
            </a:xfrm>
            <a:custGeom>
              <a:avLst/>
              <a:gdLst/>
              <a:ahLst/>
              <a:cxnLst/>
              <a:rect l="l" t="t" r="r" b="b"/>
              <a:pathLst>
                <a:path w="37049113" h="9834855">
                  <a:moveTo>
                    <a:pt x="0" y="0"/>
                  </a:moveTo>
                  <a:lnTo>
                    <a:pt x="37049113" y="0"/>
                  </a:lnTo>
                  <a:lnTo>
                    <a:pt x="37049113" y="9834855"/>
                  </a:lnTo>
                  <a:lnTo>
                    <a:pt x="0" y="98348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/>
              </a:stretch>
            </a:blipFill>
          </p:spPr>
        </p:sp>
        <p:sp>
          <p:nvSpPr>
            <p:cNvPr id="7" name="Freeform 7"/>
            <p:cNvSpPr/>
            <p:nvPr/>
          </p:nvSpPr>
          <p:spPr>
            <a:xfrm>
              <a:off x="12360216" y="3380364"/>
              <a:ext cx="24688897" cy="6110502"/>
            </a:xfrm>
            <a:custGeom>
              <a:avLst/>
              <a:gdLst/>
              <a:ahLst/>
              <a:cxnLst/>
              <a:rect l="l" t="t" r="r" b="b"/>
              <a:pathLst>
                <a:path w="24688897" h="6110502">
                  <a:moveTo>
                    <a:pt x="0" y="0"/>
                  </a:moveTo>
                  <a:lnTo>
                    <a:pt x="24688897" y="0"/>
                  </a:lnTo>
                  <a:lnTo>
                    <a:pt x="24688897" y="6110502"/>
                  </a:lnTo>
                  <a:lnTo>
                    <a:pt x="0" y="61105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47000"/>
              </a:blip>
              <a:stretch>
                <a:fillRect/>
              </a:stretch>
            </a:blipFill>
          </p:spPr>
        </p:sp>
      </p:grpSp>
      <p:sp>
        <p:nvSpPr>
          <p:cNvPr id="8" name="Freeform 8"/>
          <p:cNvSpPr/>
          <p:nvPr/>
        </p:nvSpPr>
        <p:spPr>
          <a:xfrm rot="-4361021">
            <a:off x="13003402" y="2582108"/>
            <a:ext cx="11355311" cy="3299422"/>
          </a:xfrm>
          <a:custGeom>
            <a:avLst/>
            <a:gdLst/>
            <a:ahLst/>
            <a:cxnLst/>
            <a:rect l="l" t="t" r="r" b="b"/>
            <a:pathLst>
              <a:path w="11355311" h="3299422">
                <a:moveTo>
                  <a:pt x="0" y="0"/>
                </a:moveTo>
                <a:lnTo>
                  <a:pt x="11355311" y="0"/>
                </a:lnTo>
                <a:lnTo>
                  <a:pt x="11355311" y="3299422"/>
                </a:lnTo>
                <a:lnTo>
                  <a:pt x="0" y="329942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rot="-4361021" flipH="1" flipV="1">
            <a:off x="-6070713" y="4405470"/>
            <a:ext cx="11355311" cy="3299422"/>
          </a:xfrm>
          <a:custGeom>
            <a:avLst/>
            <a:gdLst/>
            <a:ahLst/>
            <a:cxnLst/>
            <a:rect l="l" t="t" r="r" b="b"/>
            <a:pathLst>
              <a:path w="11355311" h="3299422">
                <a:moveTo>
                  <a:pt x="11355311" y="3299422"/>
                </a:moveTo>
                <a:lnTo>
                  <a:pt x="0" y="3299422"/>
                </a:lnTo>
                <a:lnTo>
                  <a:pt x="0" y="0"/>
                </a:lnTo>
                <a:lnTo>
                  <a:pt x="11355311" y="0"/>
                </a:lnTo>
                <a:lnTo>
                  <a:pt x="11355311" y="3299422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 rot="438126" flipH="1" flipV="1">
            <a:off x="-1222121" y="-2292237"/>
            <a:ext cx="8523090" cy="8229600"/>
          </a:xfrm>
          <a:custGeom>
            <a:avLst/>
            <a:gdLst/>
            <a:ahLst/>
            <a:cxnLst/>
            <a:rect l="l" t="t" r="r" b="b"/>
            <a:pathLst>
              <a:path w="8523090" h="8229600">
                <a:moveTo>
                  <a:pt x="8523090" y="8229600"/>
                </a:moveTo>
                <a:lnTo>
                  <a:pt x="0" y="8229600"/>
                </a:lnTo>
                <a:lnTo>
                  <a:pt x="0" y="0"/>
                </a:lnTo>
                <a:lnTo>
                  <a:pt x="8523090" y="0"/>
                </a:lnTo>
                <a:lnTo>
                  <a:pt x="8523090" y="8229600"/>
                </a:lnTo>
                <a:close/>
              </a:path>
            </a:pathLst>
          </a:custGeom>
          <a:blipFill>
            <a:blip r:embed="rId5"/>
            <a:stretch>
              <a:fillRect l="-89326"/>
            </a:stretch>
          </a:blipFill>
          <a:ln cap="sq">
            <a:noFill/>
            <a:prstDash val="solid"/>
            <a:miter/>
          </a:ln>
        </p:spPr>
      </p:sp>
      <p:sp>
        <p:nvSpPr>
          <p:cNvPr id="11" name="Freeform 11"/>
          <p:cNvSpPr/>
          <p:nvPr/>
        </p:nvSpPr>
        <p:spPr>
          <a:xfrm rot="438126">
            <a:off x="10987031" y="4349637"/>
            <a:ext cx="8523090" cy="8229600"/>
          </a:xfrm>
          <a:custGeom>
            <a:avLst/>
            <a:gdLst/>
            <a:ahLst/>
            <a:cxnLst/>
            <a:rect l="l" t="t" r="r" b="b"/>
            <a:pathLst>
              <a:path w="8523090" h="8229600">
                <a:moveTo>
                  <a:pt x="0" y="0"/>
                </a:moveTo>
                <a:lnTo>
                  <a:pt x="8523090" y="0"/>
                </a:lnTo>
                <a:lnTo>
                  <a:pt x="852309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89326"/>
            </a:stretch>
          </a:blipFill>
          <a:ln cap="sq">
            <a:noFill/>
            <a:prstDash val="solid"/>
            <a:miter/>
          </a:ln>
        </p:spPr>
      </p:sp>
      <p:sp>
        <p:nvSpPr>
          <p:cNvPr id="12" name="TextBox 12"/>
          <p:cNvSpPr txBox="1"/>
          <p:nvPr/>
        </p:nvSpPr>
        <p:spPr>
          <a:xfrm>
            <a:off x="1208567" y="3270730"/>
            <a:ext cx="10125703" cy="629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endParaRPr/>
          </a:p>
          <a:p>
            <a:pPr algn="ctr">
              <a:lnSpc>
                <a:spcPts val="4759"/>
              </a:lnSpc>
            </a:pPr>
            <a:r>
              <a:rPr lang="en-US" sz="3399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The Digital Shift</a:t>
            </a:r>
          </a:p>
          <a:p>
            <a:pPr algn="ctr">
              <a:lnSpc>
                <a:spcPts val="4339"/>
              </a:lnSpc>
            </a:pPr>
            <a:endParaRPr lang="en-US" sz="3399" b="1">
              <a:solidFill>
                <a:srgbClr val="000000"/>
              </a:solidFill>
              <a:latin typeface="Times New Roman Bold"/>
              <a:ea typeface="Times New Roman Bold"/>
              <a:cs typeface="Times New Roman Bold"/>
              <a:sym typeface="Times New Roman Bold"/>
            </a:endParaRPr>
          </a:p>
          <a:p>
            <a:pPr algn="ctr">
              <a:lnSpc>
                <a:spcPts val="4060"/>
              </a:lnSpc>
            </a:pPr>
            <a:r>
              <a:rPr lang="en-US" sz="2900">
                <a:solidFill>
                  <a:srgbClr val="233D7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Consumer decision-making has fundamentally transitioned from traditional media to digital touchpoints (SEO, social media, online reviews, and e-commerce platforms).</a:t>
            </a:r>
          </a:p>
          <a:p>
            <a:pPr algn="l">
              <a:lnSpc>
                <a:spcPts val="4060"/>
              </a:lnSpc>
            </a:pPr>
            <a:endParaRPr lang="en-US" sz="2900">
              <a:solidFill>
                <a:srgbClr val="233D7D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626111" lvl="1" indent="-313055" algn="l">
              <a:lnSpc>
                <a:spcPts val="4060"/>
              </a:lnSpc>
              <a:buFont typeface="Arial"/>
              <a:buChar char="•"/>
            </a:pPr>
            <a:r>
              <a:rPr lang="en-US" sz="2900">
                <a:solidFill>
                  <a:srgbClr val="233D7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Primary Objective: Evaluate LG's digital marketing strategies and analyze their direct influence on final purchase choices.</a:t>
            </a:r>
          </a:p>
          <a:p>
            <a:pPr marL="626111" lvl="1" indent="-313055" algn="l">
              <a:lnSpc>
                <a:spcPts val="4060"/>
              </a:lnSpc>
              <a:buFont typeface="Arial"/>
              <a:buChar char="•"/>
            </a:pPr>
            <a:r>
              <a:rPr lang="en-US" sz="2900">
                <a:solidFill>
                  <a:srgbClr val="233D7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Secondary Focus: Identify key digital channels, assess social media engagement, and quantify online review impacts.</a:t>
            </a:r>
          </a:p>
          <a:p>
            <a:pPr algn="l">
              <a:lnSpc>
                <a:spcPts val="3920"/>
              </a:lnSpc>
            </a:pPr>
            <a:endParaRPr lang="en-US" sz="2900">
              <a:solidFill>
                <a:srgbClr val="233D7D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2787172" y="1901728"/>
            <a:ext cx="12713656" cy="21856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500"/>
              </a:lnSpc>
            </a:pPr>
            <a:r>
              <a:rPr lang="en-US" sz="6800" b="1">
                <a:solidFill>
                  <a:srgbClr val="233D7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Introduction &amp; Research Goals</a:t>
            </a:r>
          </a:p>
          <a:p>
            <a:pPr algn="ctr">
              <a:lnSpc>
                <a:spcPts val="8500"/>
              </a:lnSpc>
            </a:pPr>
            <a:endParaRPr lang="en-US" sz="6800" b="1">
              <a:solidFill>
                <a:srgbClr val="233D7D"/>
              </a:solidFill>
              <a:latin typeface="Times New Roman Bold"/>
              <a:ea typeface="Times New Roman Bold"/>
              <a:cs typeface="Times New Roman Bold"/>
              <a:sym typeface="Times New Roman Bold"/>
            </a:endParaRPr>
          </a:p>
        </p:txBody>
      </p:sp>
      <p:grpSp>
        <p:nvGrpSpPr>
          <p:cNvPr id="14" name="Group 14"/>
          <p:cNvGrpSpPr/>
          <p:nvPr/>
        </p:nvGrpSpPr>
        <p:grpSpPr>
          <a:xfrm>
            <a:off x="11663106" y="3810660"/>
            <a:ext cx="4221702" cy="4221702"/>
            <a:chOff x="0" y="0"/>
            <a:chExt cx="812800" cy="8128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89858" y="0"/>
                  </a:moveTo>
                  <a:lnTo>
                    <a:pt x="722942" y="0"/>
                  </a:lnTo>
                  <a:cubicBezTo>
                    <a:pt x="746774" y="0"/>
                    <a:pt x="769630" y="9467"/>
                    <a:pt x="786481" y="26319"/>
                  </a:cubicBezTo>
                  <a:cubicBezTo>
                    <a:pt x="803333" y="43170"/>
                    <a:pt x="812800" y="66026"/>
                    <a:pt x="812800" y="89858"/>
                  </a:cubicBezTo>
                  <a:lnTo>
                    <a:pt x="812800" y="722942"/>
                  </a:lnTo>
                  <a:cubicBezTo>
                    <a:pt x="812800" y="746774"/>
                    <a:pt x="803333" y="769630"/>
                    <a:pt x="786481" y="786481"/>
                  </a:cubicBezTo>
                  <a:cubicBezTo>
                    <a:pt x="769630" y="803333"/>
                    <a:pt x="746774" y="812800"/>
                    <a:pt x="722942" y="812800"/>
                  </a:cubicBezTo>
                  <a:lnTo>
                    <a:pt x="89858" y="812800"/>
                  </a:lnTo>
                  <a:cubicBezTo>
                    <a:pt x="66026" y="812800"/>
                    <a:pt x="43170" y="803333"/>
                    <a:pt x="26319" y="786481"/>
                  </a:cubicBezTo>
                  <a:cubicBezTo>
                    <a:pt x="9467" y="769630"/>
                    <a:pt x="0" y="746774"/>
                    <a:pt x="0" y="722942"/>
                  </a:cubicBezTo>
                  <a:lnTo>
                    <a:pt x="0" y="89858"/>
                  </a:lnTo>
                  <a:cubicBezTo>
                    <a:pt x="0" y="66026"/>
                    <a:pt x="9467" y="43170"/>
                    <a:pt x="26319" y="26319"/>
                  </a:cubicBezTo>
                  <a:cubicBezTo>
                    <a:pt x="43170" y="9467"/>
                    <a:pt x="66026" y="0"/>
                    <a:pt x="89858" y="0"/>
                  </a:cubicBezTo>
                  <a:close/>
                </a:path>
              </a:pathLst>
            </a:custGeom>
            <a:blipFill>
              <a:blip r:embed="rId6"/>
              <a:stretch>
                <a:fillRect r="-78173"/>
              </a:stretch>
            </a:blipFill>
          </p:spPr>
        </p:sp>
      </p:grpSp>
      <p:grpSp>
        <p:nvGrpSpPr>
          <p:cNvPr id="16" name="Group 16"/>
          <p:cNvGrpSpPr/>
          <p:nvPr/>
        </p:nvGrpSpPr>
        <p:grpSpPr>
          <a:xfrm>
            <a:off x="11782567" y="3944330"/>
            <a:ext cx="4221702" cy="4221702"/>
            <a:chOff x="0" y="0"/>
            <a:chExt cx="868663" cy="868663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68663" cy="868663"/>
            </a:xfrm>
            <a:custGeom>
              <a:avLst/>
              <a:gdLst/>
              <a:ahLst/>
              <a:cxnLst/>
              <a:rect l="l" t="t" r="r" b="b"/>
              <a:pathLst>
                <a:path w="868663" h="868663">
                  <a:moveTo>
                    <a:pt x="70202" y="0"/>
                  </a:moveTo>
                  <a:lnTo>
                    <a:pt x="798461" y="0"/>
                  </a:lnTo>
                  <a:cubicBezTo>
                    <a:pt x="837233" y="0"/>
                    <a:pt x="868663" y="31430"/>
                    <a:pt x="868663" y="70202"/>
                  </a:cubicBezTo>
                  <a:lnTo>
                    <a:pt x="868663" y="798461"/>
                  </a:lnTo>
                  <a:cubicBezTo>
                    <a:pt x="868663" y="817080"/>
                    <a:pt x="861267" y="834936"/>
                    <a:pt x="848101" y="848101"/>
                  </a:cubicBezTo>
                  <a:cubicBezTo>
                    <a:pt x="834936" y="861267"/>
                    <a:pt x="817080" y="868663"/>
                    <a:pt x="798461" y="868663"/>
                  </a:cubicBezTo>
                  <a:lnTo>
                    <a:pt x="70202" y="868663"/>
                  </a:lnTo>
                  <a:cubicBezTo>
                    <a:pt x="51583" y="868663"/>
                    <a:pt x="33727" y="861267"/>
                    <a:pt x="20562" y="848101"/>
                  </a:cubicBezTo>
                  <a:cubicBezTo>
                    <a:pt x="7396" y="834936"/>
                    <a:pt x="0" y="817080"/>
                    <a:pt x="0" y="798461"/>
                  </a:cubicBezTo>
                  <a:lnTo>
                    <a:pt x="0" y="70202"/>
                  </a:lnTo>
                  <a:cubicBezTo>
                    <a:pt x="0" y="51583"/>
                    <a:pt x="7396" y="33727"/>
                    <a:pt x="20562" y="20562"/>
                  </a:cubicBezTo>
                  <a:cubicBezTo>
                    <a:pt x="33727" y="7396"/>
                    <a:pt x="51583" y="0"/>
                    <a:pt x="70202" y="0"/>
                  </a:cubicBezTo>
                  <a:close/>
                </a:path>
              </a:pathLst>
            </a:custGeom>
            <a:ln w="38100" cap="rnd">
              <a:solidFill>
                <a:srgbClr val="B4C1EA"/>
              </a:solidFill>
              <a:prstDash val="solid"/>
              <a:round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0" y="-38100"/>
              <a:ext cx="868663" cy="9067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4361021">
            <a:off x="13003402" y="2582108"/>
            <a:ext cx="11355311" cy="3299422"/>
          </a:xfrm>
          <a:custGeom>
            <a:avLst/>
            <a:gdLst/>
            <a:ahLst/>
            <a:cxnLst/>
            <a:rect l="l" t="t" r="r" b="b"/>
            <a:pathLst>
              <a:path w="11355311" h="3299422">
                <a:moveTo>
                  <a:pt x="0" y="0"/>
                </a:moveTo>
                <a:lnTo>
                  <a:pt x="11355311" y="0"/>
                </a:lnTo>
                <a:lnTo>
                  <a:pt x="11355311" y="3299422"/>
                </a:lnTo>
                <a:lnTo>
                  <a:pt x="0" y="329942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4361021" flipH="1" flipV="1">
            <a:off x="-6070713" y="4405470"/>
            <a:ext cx="11355311" cy="3299422"/>
          </a:xfrm>
          <a:custGeom>
            <a:avLst/>
            <a:gdLst/>
            <a:ahLst/>
            <a:cxnLst/>
            <a:rect l="l" t="t" r="r" b="b"/>
            <a:pathLst>
              <a:path w="11355311" h="3299422">
                <a:moveTo>
                  <a:pt x="11355311" y="3299422"/>
                </a:moveTo>
                <a:lnTo>
                  <a:pt x="0" y="3299422"/>
                </a:lnTo>
                <a:lnTo>
                  <a:pt x="0" y="0"/>
                </a:lnTo>
                <a:lnTo>
                  <a:pt x="11355311" y="0"/>
                </a:lnTo>
                <a:lnTo>
                  <a:pt x="11355311" y="3299422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 rot="-10800000">
            <a:off x="0" y="-479322"/>
            <a:ext cx="27786835" cy="7376142"/>
            <a:chOff x="0" y="0"/>
            <a:chExt cx="37049113" cy="983485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7049113" cy="9834855"/>
            </a:xfrm>
            <a:custGeom>
              <a:avLst/>
              <a:gdLst/>
              <a:ahLst/>
              <a:cxnLst/>
              <a:rect l="l" t="t" r="r" b="b"/>
              <a:pathLst>
                <a:path w="37049113" h="9834855">
                  <a:moveTo>
                    <a:pt x="0" y="0"/>
                  </a:moveTo>
                  <a:lnTo>
                    <a:pt x="37049113" y="0"/>
                  </a:lnTo>
                  <a:lnTo>
                    <a:pt x="37049113" y="9834855"/>
                  </a:lnTo>
                  <a:lnTo>
                    <a:pt x="0" y="98348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10999"/>
              </a:blip>
              <a:stretch>
                <a:fillRect/>
              </a:stretch>
            </a:blipFill>
          </p:spPr>
        </p:sp>
        <p:sp>
          <p:nvSpPr>
            <p:cNvPr id="6" name="Freeform 6"/>
            <p:cNvSpPr/>
            <p:nvPr/>
          </p:nvSpPr>
          <p:spPr>
            <a:xfrm>
              <a:off x="12360216" y="3380364"/>
              <a:ext cx="24688897" cy="6110502"/>
            </a:xfrm>
            <a:custGeom>
              <a:avLst/>
              <a:gdLst/>
              <a:ahLst/>
              <a:cxnLst/>
              <a:rect l="l" t="t" r="r" b="b"/>
              <a:pathLst>
                <a:path w="24688897" h="6110502">
                  <a:moveTo>
                    <a:pt x="0" y="0"/>
                  </a:moveTo>
                  <a:lnTo>
                    <a:pt x="24688897" y="0"/>
                  </a:lnTo>
                  <a:lnTo>
                    <a:pt x="24688897" y="6110502"/>
                  </a:lnTo>
                  <a:lnTo>
                    <a:pt x="0" y="61105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47000"/>
              </a:blip>
              <a:stretch>
                <a:fillRect/>
              </a:stretch>
            </a:blipFill>
          </p:spPr>
        </p:sp>
      </p:grpSp>
      <p:grpSp>
        <p:nvGrpSpPr>
          <p:cNvPr id="7" name="Group 7"/>
          <p:cNvGrpSpPr/>
          <p:nvPr/>
        </p:nvGrpSpPr>
        <p:grpSpPr>
          <a:xfrm>
            <a:off x="-9384499" y="3356455"/>
            <a:ext cx="27786835" cy="7376142"/>
            <a:chOff x="0" y="0"/>
            <a:chExt cx="37049113" cy="983485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37049113" cy="9834855"/>
            </a:xfrm>
            <a:custGeom>
              <a:avLst/>
              <a:gdLst/>
              <a:ahLst/>
              <a:cxnLst/>
              <a:rect l="l" t="t" r="r" b="b"/>
              <a:pathLst>
                <a:path w="37049113" h="9834855">
                  <a:moveTo>
                    <a:pt x="0" y="0"/>
                  </a:moveTo>
                  <a:lnTo>
                    <a:pt x="37049113" y="0"/>
                  </a:lnTo>
                  <a:lnTo>
                    <a:pt x="37049113" y="9834855"/>
                  </a:lnTo>
                  <a:lnTo>
                    <a:pt x="0" y="98348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10999"/>
              </a:blip>
              <a:stretch>
                <a:fillRect/>
              </a:stretch>
            </a:blipFill>
          </p:spPr>
        </p:sp>
        <p:sp>
          <p:nvSpPr>
            <p:cNvPr id="9" name="Freeform 9"/>
            <p:cNvSpPr/>
            <p:nvPr/>
          </p:nvSpPr>
          <p:spPr>
            <a:xfrm>
              <a:off x="12360216" y="3380364"/>
              <a:ext cx="24688897" cy="6110502"/>
            </a:xfrm>
            <a:custGeom>
              <a:avLst/>
              <a:gdLst/>
              <a:ahLst/>
              <a:cxnLst/>
              <a:rect l="l" t="t" r="r" b="b"/>
              <a:pathLst>
                <a:path w="24688897" h="6110502">
                  <a:moveTo>
                    <a:pt x="0" y="0"/>
                  </a:moveTo>
                  <a:lnTo>
                    <a:pt x="24688897" y="0"/>
                  </a:lnTo>
                  <a:lnTo>
                    <a:pt x="24688897" y="6110502"/>
                  </a:lnTo>
                  <a:lnTo>
                    <a:pt x="0" y="61105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47000"/>
              </a:blip>
              <a:stretch>
                <a:fillRect/>
              </a:stretch>
            </a:blipFill>
          </p:spPr>
        </p:sp>
      </p:grpSp>
      <p:sp>
        <p:nvSpPr>
          <p:cNvPr id="10" name="Freeform 10"/>
          <p:cNvSpPr/>
          <p:nvPr/>
        </p:nvSpPr>
        <p:spPr>
          <a:xfrm rot="438126" flipH="1" flipV="1">
            <a:off x="-1222121" y="-2292237"/>
            <a:ext cx="8523090" cy="8229600"/>
          </a:xfrm>
          <a:custGeom>
            <a:avLst/>
            <a:gdLst/>
            <a:ahLst/>
            <a:cxnLst/>
            <a:rect l="l" t="t" r="r" b="b"/>
            <a:pathLst>
              <a:path w="8523090" h="8229600">
                <a:moveTo>
                  <a:pt x="8523090" y="8229600"/>
                </a:moveTo>
                <a:lnTo>
                  <a:pt x="0" y="8229600"/>
                </a:lnTo>
                <a:lnTo>
                  <a:pt x="0" y="0"/>
                </a:lnTo>
                <a:lnTo>
                  <a:pt x="8523090" y="0"/>
                </a:lnTo>
                <a:lnTo>
                  <a:pt x="8523090" y="8229600"/>
                </a:lnTo>
                <a:close/>
              </a:path>
            </a:pathLst>
          </a:custGeom>
          <a:blipFill>
            <a:blip r:embed="rId5"/>
            <a:stretch>
              <a:fillRect l="-89326"/>
            </a:stretch>
          </a:blipFill>
          <a:ln cap="sq">
            <a:noFill/>
            <a:prstDash val="solid"/>
            <a:miter/>
          </a:ln>
        </p:spPr>
      </p:sp>
      <p:sp>
        <p:nvSpPr>
          <p:cNvPr id="11" name="Freeform 11"/>
          <p:cNvSpPr/>
          <p:nvPr/>
        </p:nvSpPr>
        <p:spPr>
          <a:xfrm rot="438126">
            <a:off x="10987031" y="4349637"/>
            <a:ext cx="8523090" cy="8229600"/>
          </a:xfrm>
          <a:custGeom>
            <a:avLst/>
            <a:gdLst/>
            <a:ahLst/>
            <a:cxnLst/>
            <a:rect l="l" t="t" r="r" b="b"/>
            <a:pathLst>
              <a:path w="8523090" h="8229600">
                <a:moveTo>
                  <a:pt x="0" y="0"/>
                </a:moveTo>
                <a:lnTo>
                  <a:pt x="8523090" y="0"/>
                </a:lnTo>
                <a:lnTo>
                  <a:pt x="852309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89326"/>
            </a:stretch>
          </a:blipFill>
          <a:ln cap="sq">
            <a:noFill/>
            <a:prstDash val="solid"/>
            <a:miter/>
          </a:ln>
        </p:spPr>
      </p:sp>
      <p:sp>
        <p:nvSpPr>
          <p:cNvPr id="12" name="TextBox 12"/>
          <p:cNvSpPr txBox="1"/>
          <p:nvPr/>
        </p:nvSpPr>
        <p:spPr>
          <a:xfrm>
            <a:off x="2702526" y="1955498"/>
            <a:ext cx="12713656" cy="20827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125"/>
              </a:lnSpc>
            </a:pPr>
            <a:r>
              <a:rPr lang="en-US" sz="6500" b="1">
                <a:solidFill>
                  <a:srgbClr val="233D7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LG Electronics &amp; SWOT Analysis</a:t>
            </a:r>
          </a:p>
          <a:p>
            <a:pPr algn="ctr">
              <a:lnSpc>
                <a:spcPts val="8125"/>
              </a:lnSpc>
            </a:pPr>
            <a:endParaRPr lang="en-US" sz="6500" b="1">
              <a:solidFill>
                <a:srgbClr val="233D7D"/>
              </a:solidFill>
              <a:latin typeface="Times New Roman Bold"/>
              <a:ea typeface="Times New Roman Bold"/>
              <a:cs typeface="Times New Roman Bold"/>
              <a:sym typeface="Times New Roman Bold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2403192" y="3774687"/>
            <a:ext cx="13429476" cy="1372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</a:pPr>
            <a:r>
              <a:rPr lang="en-US" sz="2600">
                <a:solidFill>
                  <a:srgbClr val="233D7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South Korean MNC founded as GoldStar. Vision: "Smart Life Solution Company" | Mission: "Better Life for All". Operating across 4 divisions: Home Appliance, Media Entertainment, Vehicle Solutions, and Eco Solutions.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67133" y="5988506"/>
            <a:ext cx="3590517" cy="2193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00"/>
              </a:lnSpc>
            </a:pPr>
            <a:r>
              <a:rPr lang="en-US" sz="2500" b="1">
                <a:solidFill>
                  <a:srgbClr val="233D7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Weakness</a:t>
            </a:r>
          </a:p>
          <a:p>
            <a:pPr marL="539753" lvl="1" indent="-269876" algn="l">
              <a:lnSpc>
                <a:spcPts val="3500"/>
              </a:lnSpc>
              <a:buFont typeface="Arial"/>
              <a:buChar char="•"/>
            </a:pPr>
            <a:r>
              <a:rPr lang="en-US" sz="2500">
                <a:solidFill>
                  <a:srgbClr val="233D7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Strategic exit from mobile smartphone market segment.</a:t>
            </a:r>
          </a:p>
          <a:p>
            <a:pPr algn="l">
              <a:lnSpc>
                <a:spcPts val="3500"/>
              </a:lnSpc>
            </a:pPr>
            <a:endParaRPr lang="en-US" sz="2500">
              <a:solidFill>
                <a:srgbClr val="233D7D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366590" y="5571940"/>
            <a:ext cx="3509660" cy="26228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83"/>
              </a:lnSpc>
            </a:pPr>
            <a:endParaRPr/>
          </a:p>
          <a:p>
            <a:pPr algn="ctr">
              <a:lnSpc>
                <a:spcPts val="3483"/>
              </a:lnSpc>
            </a:pPr>
            <a:r>
              <a:rPr lang="en-US" sz="2488" b="1">
                <a:solidFill>
                  <a:srgbClr val="233D7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Strength</a:t>
            </a:r>
          </a:p>
          <a:p>
            <a:pPr marL="537215" lvl="1" indent="-268608" algn="l">
              <a:lnSpc>
                <a:spcPts val="3483"/>
              </a:lnSpc>
              <a:buFont typeface="Arial"/>
              <a:buChar char="•"/>
            </a:pPr>
            <a:r>
              <a:rPr lang="en-US" sz="2488">
                <a:solidFill>
                  <a:srgbClr val="233D7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Wide product range, high quality perception &amp; strong brand recall.</a:t>
            </a:r>
          </a:p>
          <a:p>
            <a:pPr algn="l">
              <a:lnSpc>
                <a:spcPts val="3483"/>
              </a:lnSpc>
            </a:pPr>
            <a:endParaRPr lang="en-US" sz="2488">
              <a:solidFill>
                <a:srgbClr val="233D7D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8957650" y="5988506"/>
            <a:ext cx="3924189" cy="21561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455" b="1">
                <a:solidFill>
                  <a:srgbClr val="233D7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Opportunity</a:t>
            </a:r>
          </a:p>
          <a:p>
            <a:pPr marL="530157" lvl="1" indent="-265078" algn="l">
              <a:lnSpc>
                <a:spcPts val="3437"/>
              </a:lnSpc>
              <a:buFont typeface="Arial"/>
              <a:buChar char="•"/>
            </a:pPr>
            <a:r>
              <a:rPr lang="en-US" sz="2455">
                <a:solidFill>
                  <a:srgbClr val="233D7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Rapid expansion of digitally active Indian middle-class demographic.</a:t>
            </a:r>
          </a:p>
          <a:p>
            <a:pPr algn="l">
              <a:lnSpc>
                <a:spcPts val="3437"/>
              </a:lnSpc>
            </a:pPr>
            <a:endParaRPr lang="en-US" sz="2455">
              <a:solidFill>
                <a:srgbClr val="233D7D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2583953" y="5502980"/>
            <a:ext cx="3730760" cy="29614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84"/>
              </a:lnSpc>
            </a:pPr>
            <a:endParaRPr/>
          </a:p>
          <a:p>
            <a:pPr algn="ctr">
              <a:lnSpc>
                <a:spcPts val="3384"/>
              </a:lnSpc>
            </a:pPr>
            <a:r>
              <a:rPr lang="en-US" sz="2417" b="1">
                <a:solidFill>
                  <a:srgbClr val="233D7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Threat</a:t>
            </a:r>
          </a:p>
          <a:p>
            <a:pPr marL="521918" lvl="1" indent="-260959" algn="l">
              <a:lnSpc>
                <a:spcPts val="3384"/>
              </a:lnSpc>
              <a:buFont typeface="Arial"/>
              <a:buChar char="•"/>
            </a:pPr>
            <a:r>
              <a:rPr lang="en-US" sz="2417">
                <a:solidFill>
                  <a:srgbClr val="233D7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Aggressive digital visibility &amp; pricing from Chinese competitors.</a:t>
            </a:r>
          </a:p>
          <a:p>
            <a:pPr algn="l">
              <a:lnSpc>
                <a:spcPts val="3384"/>
              </a:lnSpc>
            </a:pPr>
            <a:endParaRPr lang="en-US" sz="2417">
              <a:solidFill>
                <a:srgbClr val="233D7D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l">
              <a:lnSpc>
                <a:spcPts val="3384"/>
              </a:lnSpc>
            </a:pPr>
            <a:endParaRPr lang="en-US" sz="2417">
              <a:solidFill>
                <a:srgbClr val="233D7D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4361021">
            <a:off x="13003402" y="2582108"/>
            <a:ext cx="11355311" cy="3299422"/>
          </a:xfrm>
          <a:custGeom>
            <a:avLst/>
            <a:gdLst/>
            <a:ahLst/>
            <a:cxnLst/>
            <a:rect l="l" t="t" r="r" b="b"/>
            <a:pathLst>
              <a:path w="11355311" h="3299422">
                <a:moveTo>
                  <a:pt x="0" y="0"/>
                </a:moveTo>
                <a:lnTo>
                  <a:pt x="11355311" y="0"/>
                </a:lnTo>
                <a:lnTo>
                  <a:pt x="11355311" y="3299422"/>
                </a:lnTo>
                <a:lnTo>
                  <a:pt x="0" y="329942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4361021" flipH="1" flipV="1">
            <a:off x="-6070713" y="4405470"/>
            <a:ext cx="11355311" cy="3299422"/>
          </a:xfrm>
          <a:custGeom>
            <a:avLst/>
            <a:gdLst/>
            <a:ahLst/>
            <a:cxnLst/>
            <a:rect l="l" t="t" r="r" b="b"/>
            <a:pathLst>
              <a:path w="11355311" h="3299422">
                <a:moveTo>
                  <a:pt x="11355311" y="3299422"/>
                </a:moveTo>
                <a:lnTo>
                  <a:pt x="0" y="3299422"/>
                </a:lnTo>
                <a:lnTo>
                  <a:pt x="0" y="0"/>
                </a:lnTo>
                <a:lnTo>
                  <a:pt x="11355311" y="0"/>
                </a:lnTo>
                <a:lnTo>
                  <a:pt x="11355311" y="3299422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 rot="-10800000">
            <a:off x="0" y="-479322"/>
            <a:ext cx="27786835" cy="7376142"/>
            <a:chOff x="0" y="0"/>
            <a:chExt cx="37049113" cy="983485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7049113" cy="9834855"/>
            </a:xfrm>
            <a:custGeom>
              <a:avLst/>
              <a:gdLst/>
              <a:ahLst/>
              <a:cxnLst/>
              <a:rect l="l" t="t" r="r" b="b"/>
              <a:pathLst>
                <a:path w="37049113" h="9834855">
                  <a:moveTo>
                    <a:pt x="0" y="0"/>
                  </a:moveTo>
                  <a:lnTo>
                    <a:pt x="37049113" y="0"/>
                  </a:lnTo>
                  <a:lnTo>
                    <a:pt x="37049113" y="9834855"/>
                  </a:lnTo>
                  <a:lnTo>
                    <a:pt x="0" y="98348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10999"/>
              </a:blip>
              <a:stretch>
                <a:fillRect/>
              </a:stretch>
            </a:blipFill>
          </p:spPr>
        </p:sp>
        <p:sp>
          <p:nvSpPr>
            <p:cNvPr id="6" name="Freeform 6"/>
            <p:cNvSpPr/>
            <p:nvPr/>
          </p:nvSpPr>
          <p:spPr>
            <a:xfrm>
              <a:off x="12360216" y="3380364"/>
              <a:ext cx="24688897" cy="6110502"/>
            </a:xfrm>
            <a:custGeom>
              <a:avLst/>
              <a:gdLst/>
              <a:ahLst/>
              <a:cxnLst/>
              <a:rect l="l" t="t" r="r" b="b"/>
              <a:pathLst>
                <a:path w="24688897" h="6110502">
                  <a:moveTo>
                    <a:pt x="0" y="0"/>
                  </a:moveTo>
                  <a:lnTo>
                    <a:pt x="24688897" y="0"/>
                  </a:lnTo>
                  <a:lnTo>
                    <a:pt x="24688897" y="6110502"/>
                  </a:lnTo>
                  <a:lnTo>
                    <a:pt x="0" y="61105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47000"/>
              </a:blip>
              <a:stretch>
                <a:fillRect/>
              </a:stretch>
            </a:blipFill>
          </p:spPr>
        </p:sp>
      </p:grpSp>
      <p:grpSp>
        <p:nvGrpSpPr>
          <p:cNvPr id="7" name="Group 7"/>
          <p:cNvGrpSpPr/>
          <p:nvPr/>
        </p:nvGrpSpPr>
        <p:grpSpPr>
          <a:xfrm>
            <a:off x="-9384499" y="3356455"/>
            <a:ext cx="27786835" cy="7376142"/>
            <a:chOff x="0" y="0"/>
            <a:chExt cx="37049113" cy="983485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37049113" cy="9834855"/>
            </a:xfrm>
            <a:custGeom>
              <a:avLst/>
              <a:gdLst/>
              <a:ahLst/>
              <a:cxnLst/>
              <a:rect l="l" t="t" r="r" b="b"/>
              <a:pathLst>
                <a:path w="37049113" h="9834855">
                  <a:moveTo>
                    <a:pt x="0" y="0"/>
                  </a:moveTo>
                  <a:lnTo>
                    <a:pt x="37049113" y="0"/>
                  </a:lnTo>
                  <a:lnTo>
                    <a:pt x="37049113" y="9834855"/>
                  </a:lnTo>
                  <a:lnTo>
                    <a:pt x="0" y="98348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10999"/>
              </a:blip>
              <a:stretch>
                <a:fillRect/>
              </a:stretch>
            </a:blipFill>
          </p:spPr>
        </p:sp>
        <p:sp>
          <p:nvSpPr>
            <p:cNvPr id="9" name="Freeform 9"/>
            <p:cNvSpPr/>
            <p:nvPr/>
          </p:nvSpPr>
          <p:spPr>
            <a:xfrm>
              <a:off x="12360216" y="3380364"/>
              <a:ext cx="24688897" cy="6110502"/>
            </a:xfrm>
            <a:custGeom>
              <a:avLst/>
              <a:gdLst/>
              <a:ahLst/>
              <a:cxnLst/>
              <a:rect l="l" t="t" r="r" b="b"/>
              <a:pathLst>
                <a:path w="24688897" h="6110502">
                  <a:moveTo>
                    <a:pt x="0" y="0"/>
                  </a:moveTo>
                  <a:lnTo>
                    <a:pt x="24688897" y="0"/>
                  </a:lnTo>
                  <a:lnTo>
                    <a:pt x="24688897" y="6110502"/>
                  </a:lnTo>
                  <a:lnTo>
                    <a:pt x="0" y="61105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47000"/>
              </a:blip>
              <a:stretch>
                <a:fillRect/>
              </a:stretch>
            </a:blipFill>
          </p:spPr>
        </p:sp>
      </p:grpSp>
      <p:sp>
        <p:nvSpPr>
          <p:cNvPr id="10" name="Freeform 10"/>
          <p:cNvSpPr/>
          <p:nvPr/>
        </p:nvSpPr>
        <p:spPr>
          <a:xfrm rot="438126" flipH="1" flipV="1">
            <a:off x="-1222121" y="-2292237"/>
            <a:ext cx="8523090" cy="8229600"/>
          </a:xfrm>
          <a:custGeom>
            <a:avLst/>
            <a:gdLst/>
            <a:ahLst/>
            <a:cxnLst/>
            <a:rect l="l" t="t" r="r" b="b"/>
            <a:pathLst>
              <a:path w="8523090" h="8229600">
                <a:moveTo>
                  <a:pt x="8523090" y="8229600"/>
                </a:moveTo>
                <a:lnTo>
                  <a:pt x="0" y="8229600"/>
                </a:lnTo>
                <a:lnTo>
                  <a:pt x="0" y="0"/>
                </a:lnTo>
                <a:lnTo>
                  <a:pt x="8523090" y="0"/>
                </a:lnTo>
                <a:lnTo>
                  <a:pt x="8523090" y="8229600"/>
                </a:lnTo>
                <a:close/>
              </a:path>
            </a:pathLst>
          </a:custGeom>
          <a:blipFill>
            <a:blip r:embed="rId5"/>
            <a:stretch>
              <a:fillRect l="-89326"/>
            </a:stretch>
          </a:blipFill>
          <a:ln cap="sq">
            <a:noFill/>
            <a:prstDash val="solid"/>
            <a:miter/>
          </a:ln>
        </p:spPr>
      </p:sp>
      <p:sp>
        <p:nvSpPr>
          <p:cNvPr id="11" name="Freeform 11"/>
          <p:cNvSpPr/>
          <p:nvPr/>
        </p:nvSpPr>
        <p:spPr>
          <a:xfrm rot="438126">
            <a:off x="11549001" y="4740094"/>
            <a:ext cx="8523090" cy="8229600"/>
          </a:xfrm>
          <a:custGeom>
            <a:avLst/>
            <a:gdLst/>
            <a:ahLst/>
            <a:cxnLst/>
            <a:rect l="l" t="t" r="r" b="b"/>
            <a:pathLst>
              <a:path w="8523090" h="8229600">
                <a:moveTo>
                  <a:pt x="0" y="0"/>
                </a:moveTo>
                <a:lnTo>
                  <a:pt x="8523090" y="0"/>
                </a:lnTo>
                <a:lnTo>
                  <a:pt x="852309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89326"/>
            </a:stretch>
          </a:blipFill>
          <a:ln cap="sq">
            <a:noFill/>
            <a:prstDash val="solid"/>
            <a:miter/>
          </a:ln>
        </p:spPr>
      </p:sp>
      <p:sp>
        <p:nvSpPr>
          <p:cNvPr id="12" name="TextBox 12"/>
          <p:cNvSpPr txBox="1"/>
          <p:nvPr/>
        </p:nvSpPr>
        <p:spPr>
          <a:xfrm>
            <a:off x="2787172" y="1892203"/>
            <a:ext cx="12713656" cy="25873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625"/>
              </a:lnSpc>
            </a:pPr>
            <a:r>
              <a:rPr lang="en-US" sz="7700" b="1">
                <a:solidFill>
                  <a:srgbClr val="233D7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Research Methodology</a:t>
            </a:r>
          </a:p>
          <a:p>
            <a:pPr algn="ctr">
              <a:lnSpc>
                <a:spcPts val="10500"/>
              </a:lnSpc>
            </a:pPr>
            <a:endParaRPr lang="en-US" sz="7700" b="1">
              <a:solidFill>
                <a:srgbClr val="233D7D"/>
              </a:solidFill>
              <a:latin typeface="Times New Roman Bold"/>
              <a:ea typeface="Times New Roman Bold"/>
              <a:cs typeface="Times New Roman Bold"/>
              <a:sym typeface="Times New Roman Bold"/>
            </a:endParaRPr>
          </a:p>
        </p:txBody>
      </p:sp>
      <p:grpSp>
        <p:nvGrpSpPr>
          <p:cNvPr id="13" name="Group 13"/>
          <p:cNvGrpSpPr/>
          <p:nvPr/>
        </p:nvGrpSpPr>
        <p:grpSpPr>
          <a:xfrm>
            <a:off x="1720473" y="3502561"/>
            <a:ext cx="15894990" cy="1953895"/>
            <a:chOff x="0" y="0"/>
            <a:chExt cx="21193320" cy="2605193"/>
          </a:xfrm>
        </p:grpSpPr>
        <p:sp>
          <p:nvSpPr>
            <p:cNvPr id="14" name="TextBox 14"/>
            <p:cNvSpPr txBox="1"/>
            <p:nvPr/>
          </p:nvSpPr>
          <p:spPr>
            <a:xfrm>
              <a:off x="3203441" y="-85725"/>
              <a:ext cx="17989879" cy="269091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339"/>
                </a:lnSpc>
              </a:pPr>
              <a:r>
                <a:rPr lang="en-US" sz="3099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Research Design</a:t>
              </a:r>
            </a:p>
            <a:p>
              <a:pPr algn="l">
                <a:lnSpc>
                  <a:spcPts val="3920"/>
                </a:lnSpc>
              </a:pPr>
              <a:r>
                <a:rPr lang="en-US" sz="2800">
                  <a:solidFill>
                    <a:srgbClr val="233D7D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Descriptive Research Framework: Applied to observe, analyze, and quantify consumer behavior and digital interaction patterns with LG products without altering variables.</a:t>
              </a:r>
            </a:p>
            <a:p>
              <a:pPr algn="l">
                <a:lnSpc>
                  <a:spcPts val="3920"/>
                </a:lnSpc>
              </a:pPr>
              <a:endParaRPr lang="en-US" sz="2800">
                <a:solidFill>
                  <a:srgbClr val="233D7D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11257"/>
              <a:ext cx="2844531" cy="19145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250"/>
                </a:lnSpc>
              </a:pPr>
              <a:r>
                <a:rPr lang="en-US" sz="9000" b="1">
                  <a:solidFill>
                    <a:srgbClr val="233D7D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01.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4229583" y="5219692"/>
            <a:ext cx="13029717" cy="2526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Sample &amp; Target</a:t>
            </a:r>
          </a:p>
          <a:p>
            <a:pPr algn="ctr">
              <a:lnSpc>
                <a:spcPts val="3920"/>
              </a:lnSpc>
            </a:pPr>
            <a:r>
              <a:rPr lang="en-US" sz="2800">
                <a:solidFill>
                  <a:srgbClr val="233D7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Sample Size: 101 Respondents</a:t>
            </a:r>
          </a:p>
          <a:p>
            <a:pPr algn="ctr">
              <a:lnSpc>
                <a:spcPts val="3920"/>
              </a:lnSpc>
            </a:pPr>
            <a:r>
              <a:rPr lang="en-US" sz="2800">
                <a:solidFill>
                  <a:srgbClr val="233D7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Comprising students (56%), working professionals, and digitally active young consumers navigating purchase decisions.</a:t>
            </a:r>
          </a:p>
          <a:p>
            <a:pPr algn="l">
              <a:lnSpc>
                <a:spcPts val="3920"/>
              </a:lnSpc>
            </a:pPr>
            <a:endParaRPr lang="en-US" sz="2800">
              <a:solidFill>
                <a:srgbClr val="233D7D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720473" y="5674113"/>
            <a:ext cx="2133398" cy="1457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50"/>
              </a:lnSpc>
            </a:pPr>
            <a:r>
              <a:rPr lang="en-US" sz="9000" b="1">
                <a:solidFill>
                  <a:srgbClr val="233D7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02.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1720473" y="7653647"/>
            <a:ext cx="15408327" cy="1951355"/>
            <a:chOff x="0" y="0"/>
            <a:chExt cx="20544436" cy="2601807"/>
          </a:xfrm>
        </p:grpSpPr>
        <p:sp>
          <p:nvSpPr>
            <p:cNvPr id="19" name="TextBox 19"/>
            <p:cNvSpPr txBox="1"/>
            <p:nvPr/>
          </p:nvSpPr>
          <p:spPr>
            <a:xfrm>
              <a:off x="2804940" y="-76200"/>
              <a:ext cx="17739495" cy="26780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060"/>
                </a:lnSpc>
              </a:pPr>
              <a:r>
                <a:rPr lang="en-US" sz="2900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Data Collection</a:t>
              </a:r>
            </a:p>
            <a:p>
              <a:pPr algn="ctr">
                <a:lnSpc>
                  <a:spcPts val="3780"/>
                </a:lnSpc>
              </a:pPr>
              <a:r>
                <a:rPr lang="en-US" sz="2700">
                  <a:solidFill>
                    <a:srgbClr val="233D7D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Primary + Secondary Sources: Primary data collected via structured Google Forms questionnaires (rating scales, closed &amp; open-ended questions) paired with industry journals.</a:t>
              </a:r>
            </a:p>
            <a:p>
              <a:pPr algn="ctr">
                <a:lnSpc>
                  <a:spcPts val="4479"/>
                </a:lnSpc>
              </a:pPr>
              <a:endParaRPr lang="en-US" sz="2700">
                <a:solidFill>
                  <a:srgbClr val="233D7D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99748"/>
              <a:ext cx="2804940" cy="19145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250"/>
                </a:lnSpc>
              </a:pPr>
              <a:r>
                <a:rPr lang="en-US" sz="9000" b="1">
                  <a:solidFill>
                    <a:srgbClr val="233D7D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03.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4361021">
            <a:off x="13003402" y="2582108"/>
            <a:ext cx="11355311" cy="3299422"/>
          </a:xfrm>
          <a:custGeom>
            <a:avLst/>
            <a:gdLst/>
            <a:ahLst/>
            <a:cxnLst/>
            <a:rect l="l" t="t" r="r" b="b"/>
            <a:pathLst>
              <a:path w="11355311" h="3299422">
                <a:moveTo>
                  <a:pt x="0" y="0"/>
                </a:moveTo>
                <a:lnTo>
                  <a:pt x="11355311" y="0"/>
                </a:lnTo>
                <a:lnTo>
                  <a:pt x="11355311" y="3299422"/>
                </a:lnTo>
                <a:lnTo>
                  <a:pt x="0" y="329942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4361021" flipH="1" flipV="1">
            <a:off x="-6070713" y="4405470"/>
            <a:ext cx="11355311" cy="3299422"/>
          </a:xfrm>
          <a:custGeom>
            <a:avLst/>
            <a:gdLst/>
            <a:ahLst/>
            <a:cxnLst/>
            <a:rect l="l" t="t" r="r" b="b"/>
            <a:pathLst>
              <a:path w="11355311" h="3299422">
                <a:moveTo>
                  <a:pt x="11355311" y="3299422"/>
                </a:moveTo>
                <a:lnTo>
                  <a:pt x="0" y="3299422"/>
                </a:lnTo>
                <a:lnTo>
                  <a:pt x="0" y="0"/>
                </a:lnTo>
                <a:lnTo>
                  <a:pt x="11355311" y="0"/>
                </a:lnTo>
                <a:lnTo>
                  <a:pt x="11355311" y="3299422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 rot="-10800000">
            <a:off x="0" y="-479322"/>
            <a:ext cx="27786835" cy="7376142"/>
            <a:chOff x="0" y="0"/>
            <a:chExt cx="37049113" cy="983485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7049113" cy="9834855"/>
            </a:xfrm>
            <a:custGeom>
              <a:avLst/>
              <a:gdLst/>
              <a:ahLst/>
              <a:cxnLst/>
              <a:rect l="l" t="t" r="r" b="b"/>
              <a:pathLst>
                <a:path w="37049113" h="9834855">
                  <a:moveTo>
                    <a:pt x="0" y="0"/>
                  </a:moveTo>
                  <a:lnTo>
                    <a:pt x="37049113" y="0"/>
                  </a:lnTo>
                  <a:lnTo>
                    <a:pt x="37049113" y="9834855"/>
                  </a:lnTo>
                  <a:lnTo>
                    <a:pt x="0" y="98348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10999"/>
              </a:blip>
              <a:stretch>
                <a:fillRect/>
              </a:stretch>
            </a:blipFill>
          </p:spPr>
        </p:sp>
        <p:sp>
          <p:nvSpPr>
            <p:cNvPr id="6" name="Freeform 6"/>
            <p:cNvSpPr/>
            <p:nvPr/>
          </p:nvSpPr>
          <p:spPr>
            <a:xfrm>
              <a:off x="12360216" y="3380364"/>
              <a:ext cx="24688897" cy="6110502"/>
            </a:xfrm>
            <a:custGeom>
              <a:avLst/>
              <a:gdLst/>
              <a:ahLst/>
              <a:cxnLst/>
              <a:rect l="l" t="t" r="r" b="b"/>
              <a:pathLst>
                <a:path w="24688897" h="6110502">
                  <a:moveTo>
                    <a:pt x="0" y="0"/>
                  </a:moveTo>
                  <a:lnTo>
                    <a:pt x="24688897" y="0"/>
                  </a:lnTo>
                  <a:lnTo>
                    <a:pt x="24688897" y="6110502"/>
                  </a:lnTo>
                  <a:lnTo>
                    <a:pt x="0" y="61105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47000"/>
              </a:blip>
              <a:stretch>
                <a:fillRect/>
              </a:stretch>
            </a:blipFill>
          </p:spPr>
        </p:sp>
      </p:grpSp>
      <p:grpSp>
        <p:nvGrpSpPr>
          <p:cNvPr id="7" name="Group 7"/>
          <p:cNvGrpSpPr/>
          <p:nvPr/>
        </p:nvGrpSpPr>
        <p:grpSpPr>
          <a:xfrm>
            <a:off x="-9384499" y="3356455"/>
            <a:ext cx="27786835" cy="7376142"/>
            <a:chOff x="0" y="0"/>
            <a:chExt cx="37049113" cy="983485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37049113" cy="9834855"/>
            </a:xfrm>
            <a:custGeom>
              <a:avLst/>
              <a:gdLst/>
              <a:ahLst/>
              <a:cxnLst/>
              <a:rect l="l" t="t" r="r" b="b"/>
              <a:pathLst>
                <a:path w="37049113" h="9834855">
                  <a:moveTo>
                    <a:pt x="0" y="0"/>
                  </a:moveTo>
                  <a:lnTo>
                    <a:pt x="37049113" y="0"/>
                  </a:lnTo>
                  <a:lnTo>
                    <a:pt x="37049113" y="9834855"/>
                  </a:lnTo>
                  <a:lnTo>
                    <a:pt x="0" y="98348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10999"/>
              </a:blip>
              <a:stretch>
                <a:fillRect/>
              </a:stretch>
            </a:blipFill>
          </p:spPr>
        </p:sp>
        <p:sp>
          <p:nvSpPr>
            <p:cNvPr id="9" name="Freeform 9"/>
            <p:cNvSpPr/>
            <p:nvPr/>
          </p:nvSpPr>
          <p:spPr>
            <a:xfrm>
              <a:off x="12360216" y="3380364"/>
              <a:ext cx="24688897" cy="6110502"/>
            </a:xfrm>
            <a:custGeom>
              <a:avLst/>
              <a:gdLst/>
              <a:ahLst/>
              <a:cxnLst/>
              <a:rect l="l" t="t" r="r" b="b"/>
              <a:pathLst>
                <a:path w="24688897" h="6110502">
                  <a:moveTo>
                    <a:pt x="0" y="0"/>
                  </a:moveTo>
                  <a:lnTo>
                    <a:pt x="24688897" y="0"/>
                  </a:lnTo>
                  <a:lnTo>
                    <a:pt x="24688897" y="6110502"/>
                  </a:lnTo>
                  <a:lnTo>
                    <a:pt x="0" y="61105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47000"/>
              </a:blip>
              <a:stretch>
                <a:fillRect/>
              </a:stretch>
            </a:blipFill>
          </p:spPr>
        </p:sp>
      </p:grpSp>
      <p:sp>
        <p:nvSpPr>
          <p:cNvPr id="10" name="Freeform 10"/>
          <p:cNvSpPr/>
          <p:nvPr/>
        </p:nvSpPr>
        <p:spPr>
          <a:xfrm rot="438126" flipH="1" flipV="1">
            <a:off x="-1222121" y="-2292237"/>
            <a:ext cx="8523090" cy="8229600"/>
          </a:xfrm>
          <a:custGeom>
            <a:avLst/>
            <a:gdLst/>
            <a:ahLst/>
            <a:cxnLst/>
            <a:rect l="l" t="t" r="r" b="b"/>
            <a:pathLst>
              <a:path w="8523090" h="8229600">
                <a:moveTo>
                  <a:pt x="8523090" y="8229600"/>
                </a:moveTo>
                <a:lnTo>
                  <a:pt x="0" y="8229600"/>
                </a:lnTo>
                <a:lnTo>
                  <a:pt x="0" y="0"/>
                </a:lnTo>
                <a:lnTo>
                  <a:pt x="8523090" y="0"/>
                </a:lnTo>
                <a:lnTo>
                  <a:pt x="8523090" y="8229600"/>
                </a:lnTo>
                <a:close/>
              </a:path>
            </a:pathLst>
          </a:custGeom>
          <a:blipFill>
            <a:blip r:embed="rId5"/>
            <a:stretch>
              <a:fillRect l="-89326"/>
            </a:stretch>
          </a:blipFill>
          <a:ln cap="sq">
            <a:noFill/>
            <a:prstDash val="solid"/>
            <a:miter/>
          </a:ln>
        </p:spPr>
      </p:sp>
      <p:sp>
        <p:nvSpPr>
          <p:cNvPr id="11" name="Freeform 11"/>
          <p:cNvSpPr/>
          <p:nvPr/>
        </p:nvSpPr>
        <p:spPr>
          <a:xfrm rot="438126">
            <a:off x="10987031" y="4349637"/>
            <a:ext cx="8523090" cy="8229600"/>
          </a:xfrm>
          <a:custGeom>
            <a:avLst/>
            <a:gdLst/>
            <a:ahLst/>
            <a:cxnLst/>
            <a:rect l="l" t="t" r="r" b="b"/>
            <a:pathLst>
              <a:path w="8523090" h="8229600">
                <a:moveTo>
                  <a:pt x="0" y="0"/>
                </a:moveTo>
                <a:lnTo>
                  <a:pt x="8523090" y="0"/>
                </a:lnTo>
                <a:lnTo>
                  <a:pt x="852309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89326"/>
            </a:stretch>
          </a:blipFill>
          <a:ln cap="sq">
            <a:noFill/>
            <a:prstDash val="solid"/>
            <a:miter/>
          </a:ln>
        </p:spPr>
      </p:sp>
      <p:sp>
        <p:nvSpPr>
          <p:cNvPr id="12" name="TextBox 12"/>
          <p:cNvSpPr txBox="1"/>
          <p:nvPr/>
        </p:nvSpPr>
        <p:spPr>
          <a:xfrm>
            <a:off x="2787172" y="1733025"/>
            <a:ext cx="12713656" cy="11823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125"/>
              </a:lnSpc>
            </a:pPr>
            <a:r>
              <a:rPr lang="en-US" sz="7300" b="1">
                <a:solidFill>
                  <a:srgbClr val="233D7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Key Findings &amp; Data Analysis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1502880" y="4154340"/>
            <a:ext cx="4528373" cy="5811886"/>
            <a:chOff x="0" y="0"/>
            <a:chExt cx="1065994" cy="1368137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065994" cy="1368137"/>
            </a:xfrm>
            <a:custGeom>
              <a:avLst/>
              <a:gdLst/>
              <a:ahLst/>
              <a:cxnLst/>
              <a:rect l="l" t="t" r="r" b="b"/>
              <a:pathLst>
                <a:path w="1065994" h="1368137">
                  <a:moveTo>
                    <a:pt x="65447" y="0"/>
                  </a:moveTo>
                  <a:lnTo>
                    <a:pt x="1000547" y="0"/>
                  </a:lnTo>
                  <a:cubicBezTo>
                    <a:pt x="1017904" y="0"/>
                    <a:pt x="1034551" y="6895"/>
                    <a:pt x="1046825" y="19169"/>
                  </a:cubicBezTo>
                  <a:cubicBezTo>
                    <a:pt x="1059099" y="31443"/>
                    <a:pt x="1065994" y="48090"/>
                    <a:pt x="1065994" y="65447"/>
                  </a:cubicBezTo>
                  <a:lnTo>
                    <a:pt x="1065994" y="1302690"/>
                  </a:lnTo>
                  <a:cubicBezTo>
                    <a:pt x="1065994" y="1338836"/>
                    <a:pt x="1036692" y="1368137"/>
                    <a:pt x="1000547" y="1368137"/>
                  </a:cubicBezTo>
                  <a:lnTo>
                    <a:pt x="65447" y="1368137"/>
                  </a:lnTo>
                  <a:cubicBezTo>
                    <a:pt x="29302" y="1368137"/>
                    <a:pt x="0" y="1338836"/>
                    <a:pt x="0" y="1302690"/>
                  </a:cubicBezTo>
                  <a:lnTo>
                    <a:pt x="0" y="65447"/>
                  </a:lnTo>
                  <a:cubicBezTo>
                    <a:pt x="0" y="29302"/>
                    <a:pt x="29302" y="0"/>
                    <a:pt x="65447" y="0"/>
                  </a:cubicBezTo>
                  <a:close/>
                </a:path>
              </a:pathLst>
            </a:custGeom>
            <a:ln w="38100" cap="rnd">
              <a:solidFill>
                <a:srgbClr val="B4C1EA"/>
              </a:solidFill>
              <a:prstDash val="solid"/>
              <a:round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1065994" cy="1406237"/>
            </a:xfrm>
            <a:prstGeom prst="rect">
              <a:avLst/>
            </a:prstGeom>
          </p:spPr>
          <p:txBody>
            <a:bodyPr lIns="44403" tIns="44403" rIns="44403" bIns="44403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908130" y="4620046"/>
            <a:ext cx="3659366" cy="45730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19"/>
              </a:lnSpc>
            </a:pPr>
            <a:r>
              <a:rPr lang="en-US" sz="2585">
                <a:solidFill>
                  <a:srgbClr val="233D7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Quality First: 65.3% rank product quality as the top factor influencing brand selection. </a:t>
            </a:r>
          </a:p>
          <a:p>
            <a:pPr algn="ctr">
              <a:lnSpc>
                <a:spcPts val="3619"/>
              </a:lnSpc>
            </a:pPr>
            <a:endParaRPr lang="en-US" sz="2585">
              <a:solidFill>
                <a:srgbClr val="233D7D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3619"/>
              </a:lnSpc>
            </a:pPr>
            <a:r>
              <a:rPr lang="en-US" sz="2585">
                <a:solidFill>
                  <a:srgbClr val="233D7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Target Demographic: 71% of LG users surveyed belong to the 18–25 age group; 56% of total respondents are students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6879814" y="4154340"/>
            <a:ext cx="4528373" cy="5327184"/>
            <a:chOff x="0" y="0"/>
            <a:chExt cx="1065994" cy="1254037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065994" cy="1254037"/>
            </a:xfrm>
            <a:custGeom>
              <a:avLst/>
              <a:gdLst/>
              <a:ahLst/>
              <a:cxnLst/>
              <a:rect l="l" t="t" r="r" b="b"/>
              <a:pathLst>
                <a:path w="1065994" h="1254037">
                  <a:moveTo>
                    <a:pt x="65447" y="0"/>
                  </a:moveTo>
                  <a:lnTo>
                    <a:pt x="1000547" y="0"/>
                  </a:lnTo>
                  <a:cubicBezTo>
                    <a:pt x="1017904" y="0"/>
                    <a:pt x="1034551" y="6895"/>
                    <a:pt x="1046825" y="19169"/>
                  </a:cubicBezTo>
                  <a:cubicBezTo>
                    <a:pt x="1059099" y="31443"/>
                    <a:pt x="1065994" y="48090"/>
                    <a:pt x="1065994" y="65447"/>
                  </a:cubicBezTo>
                  <a:lnTo>
                    <a:pt x="1065994" y="1188589"/>
                  </a:lnTo>
                  <a:cubicBezTo>
                    <a:pt x="1065994" y="1224735"/>
                    <a:pt x="1036692" y="1254037"/>
                    <a:pt x="1000547" y="1254037"/>
                  </a:cubicBezTo>
                  <a:lnTo>
                    <a:pt x="65447" y="1254037"/>
                  </a:lnTo>
                  <a:cubicBezTo>
                    <a:pt x="29302" y="1254037"/>
                    <a:pt x="0" y="1224735"/>
                    <a:pt x="0" y="1188589"/>
                  </a:cubicBezTo>
                  <a:lnTo>
                    <a:pt x="0" y="65447"/>
                  </a:lnTo>
                  <a:cubicBezTo>
                    <a:pt x="0" y="29302"/>
                    <a:pt x="29302" y="0"/>
                    <a:pt x="65447" y="0"/>
                  </a:cubicBezTo>
                  <a:close/>
                </a:path>
              </a:pathLst>
            </a:custGeom>
            <a:ln w="38100" cap="rnd">
              <a:solidFill>
                <a:srgbClr val="B4C1EA"/>
              </a:solidFill>
              <a:prstDash val="solid"/>
              <a:round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0" y="-38100"/>
              <a:ext cx="1065994" cy="1292137"/>
            </a:xfrm>
            <a:prstGeom prst="rect">
              <a:avLst/>
            </a:prstGeom>
          </p:spPr>
          <p:txBody>
            <a:bodyPr lIns="44403" tIns="44403" rIns="44403" bIns="44403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328944" y="4805577"/>
            <a:ext cx="3659366" cy="41158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19"/>
              </a:lnSpc>
            </a:pPr>
            <a:r>
              <a:rPr lang="en-US" sz="2585">
                <a:solidFill>
                  <a:srgbClr val="233D7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High Satisfaction: 77.2% of respondents express satisfaction with LG products. </a:t>
            </a:r>
          </a:p>
          <a:p>
            <a:pPr algn="ctr">
              <a:lnSpc>
                <a:spcPts val="3619"/>
              </a:lnSpc>
            </a:pPr>
            <a:endParaRPr lang="en-US" sz="2585">
              <a:solidFill>
                <a:srgbClr val="233D7D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3619"/>
              </a:lnSpc>
            </a:pPr>
            <a:r>
              <a:rPr lang="en-US" sz="2585">
                <a:solidFill>
                  <a:srgbClr val="233D7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Word-of-Mouth: 54.5% state family members are the primary decision drivers.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12286001" y="4154340"/>
            <a:ext cx="4528373" cy="3926385"/>
            <a:chOff x="0" y="0"/>
            <a:chExt cx="1065994" cy="924284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065994" cy="924284"/>
            </a:xfrm>
            <a:custGeom>
              <a:avLst/>
              <a:gdLst/>
              <a:ahLst/>
              <a:cxnLst/>
              <a:rect l="l" t="t" r="r" b="b"/>
              <a:pathLst>
                <a:path w="1065994" h="924284">
                  <a:moveTo>
                    <a:pt x="65447" y="0"/>
                  </a:moveTo>
                  <a:lnTo>
                    <a:pt x="1000547" y="0"/>
                  </a:lnTo>
                  <a:cubicBezTo>
                    <a:pt x="1017904" y="0"/>
                    <a:pt x="1034551" y="6895"/>
                    <a:pt x="1046825" y="19169"/>
                  </a:cubicBezTo>
                  <a:cubicBezTo>
                    <a:pt x="1059099" y="31443"/>
                    <a:pt x="1065994" y="48090"/>
                    <a:pt x="1065994" y="65447"/>
                  </a:cubicBezTo>
                  <a:lnTo>
                    <a:pt x="1065994" y="858837"/>
                  </a:lnTo>
                  <a:cubicBezTo>
                    <a:pt x="1065994" y="894982"/>
                    <a:pt x="1036692" y="924284"/>
                    <a:pt x="1000547" y="924284"/>
                  </a:cubicBezTo>
                  <a:lnTo>
                    <a:pt x="65447" y="924284"/>
                  </a:lnTo>
                  <a:cubicBezTo>
                    <a:pt x="29302" y="924284"/>
                    <a:pt x="0" y="894982"/>
                    <a:pt x="0" y="858837"/>
                  </a:cubicBezTo>
                  <a:lnTo>
                    <a:pt x="0" y="65447"/>
                  </a:lnTo>
                  <a:cubicBezTo>
                    <a:pt x="0" y="29302"/>
                    <a:pt x="29302" y="0"/>
                    <a:pt x="65447" y="0"/>
                  </a:cubicBezTo>
                  <a:close/>
                </a:path>
              </a:pathLst>
            </a:custGeom>
            <a:ln w="38100" cap="rnd">
              <a:solidFill>
                <a:srgbClr val="B4C1EA"/>
              </a:solidFill>
              <a:prstDash val="solid"/>
              <a:round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0" y="-38100"/>
              <a:ext cx="1065994" cy="962384"/>
            </a:xfrm>
            <a:prstGeom prst="rect">
              <a:avLst/>
            </a:prstGeom>
          </p:spPr>
          <p:txBody>
            <a:bodyPr lIns="44403" tIns="44403" rIns="44403" bIns="44403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12722636" y="5122935"/>
            <a:ext cx="3659366" cy="19129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59"/>
              </a:lnSpc>
            </a:pPr>
            <a:r>
              <a:rPr lang="en-US" sz="2685">
                <a:solidFill>
                  <a:srgbClr val="233D7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Competitor Dynamics: Samsung leads the refrigerator segment at 37.6%, with LG at 26.7%</a:t>
            </a:r>
          </a:p>
        </p:txBody>
      </p:sp>
      <p:sp>
        <p:nvSpPr>
          <p:cNvPr id="25" name="Freeform 25"/>
          <p:cNvSpPr/>
          <p:nvPr/>
        </p:nvSpPr>
        <p:spPr>
          <a:xfrm>
            <a:off x="3767067" y="3384162"/>
            <a:ext cx="10783120" cy="770178"/>
          </a:xfrm>
          <a:custGeom>
            <a:avLst/>
            <a:gdLst/>
            <a:ahLst/>
            <a:cxnLst/>
            <a:rect l="l" t="t" r="r" b="b"/>
            <a:pathLst>
              <a:path w="10783120" h="770178">
                <a:moveTo>
                  <a:pt x="0" y="770178"/>
                </a:moveTo>
                <a:lnTo>
                  <a:pt x="0" y="228600"/>
                </a:lnTo>
                <a:cubicBezTo>
                  <a:pt x="0" y="167972"/>
                  <a:pt x="24084" y="109826"/>
                  <a:pt x="66955" y="66955"/>
                </a:cubicBezTo>
                <a:cubicBezTo>
                  <a:pt x="109826" y="24085"/>
                  <a:pt x="167971" y="0"/>
                  <a:pt x="228600" y="0"/>
                </a:cubicBezTo>
                <a:lnTo>
                  <a:pt x="10554519" y="0"/>
                </a:lnTo>
                <a:cubicBezTo>
                  <a:pt x="10680772" y="0"/>
                  <a:pt x="10783119" y="102348"/>
                  <a:pt x="10783119" y="228600"/>
                </a:cubicBezTo>
                <a:lnTo>
                  <a:pt x="10783119" y="770178"/>
                </a:lnTo>
              </a:path>
            </a:pathLst>
          </a:custGeom>
          <a:ln w="38100" cap="flat">
            <a:solidFill>
              <a:srgbClr val="233D7D"/>
            </a:solidFill>
            <a:prstDash val="solid"/>
            <a:headEnd type="oval" w="lg" len="lg"/>
            <a:tailEnd type="oval" w="lg" len="lg"/>
          </a:ln>
        </p:spPr>
      </p:sp>
      <p:sp>
        <p:nvSpPr>
          <p:cNvPr id="26" name="AutoShape 26"/>
          <p:cNvSpPr/>
          <p:nvPr/>
        </p:nvSpPr>
        <p:spPr>
          <a:xfrm flipV="1">
            <a:off x="9144000" y="3399010"/>
            <a:ext cx="0" cy="755330"/>
          </a:xfrm>
          <a:prstGeom prst="line">
            <a:avLst/>
          </a:prstGeom>
          <a:ln w="38100" cap="flat">
            <a:solidFill>
              <a:srgbClr val="233D7D"/>
            </a:solidFill>
            <a:prstDash val="solid"/>
            <a:headEnd type="oval" w="lg" len="lg"/>
            <a:tailEnd type="none" w="sm" len="sm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4361021">
            <a:off x="13003402" y="2582108"/>
            <a:ext cx="11355311" cy="3299422"/>
          </a:xfrm>
          <a:custGeom>
            <a:avLst/>
            <a:gdLst/>
            <a:ahLst/>
            <a:cxnLst/>
            <a:rect l="l" t="t" r="r" b="b"/>
            <a:pathLst>
              <a:path w="11355311" h="3299422">
                <a:moveTo>
                  <a:pt x="0" y="0"/>
                </a:moveTo>
                <a:lnTo>
                  <a:pt x="11355311" y="0"/>
                </a:lnTo>
                <a:lnTo>
                  <a:pt x="11355311" y="3299422"/>
                </a:lnTo>
                <a:lnTo>
                  <a:pt x="0" y="329942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4361021" flipH="1" flipV="1">
            <a:off x="-6070713" y="4405470"/>
            <a:ext cx="11355311" cy="3299422"/>
          </a:xfrm>
          <a:custGeom>
            <a:avLst/>
            <a:gdLst/>
            <a:ahLst/>
            <a:cxnLst/>
            <a:rect l="l" t="t" r="r" b="b"/>
            <a:pathLst>
              <a:path w="11355311" h="3299422">
                <a:moveTo>
                  <a:pt x="11355311" y="3299422"/>
                </a:moveTo>
                <a:lnTo>
                  <a:pt x="0" y="3299422"/>
                </a:lnTo>
                <a:lnTo>
                  <a:pt x="0" y="0"/>
                </a:lnTo>
                <a:lnTo>
                  <a:pt x="11355311" y="0"/>
                </a:lnTo>
                <a:lnTo>
                  <a:pt x="11355311" y="3299422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 rot="-10800000">
            <a:off x="0" y="-479322"/>
            <a:ext cx="27786835" cy="7376142"/>
            <a:chOff x="0" y="0"/>
            <a:chExt cx="37049113" cy="983485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7049113" cy="9834855"/>
            </a:xfrm>
            <a:custGeom>
              <a:avLst/>
              <a:gdLst/>
              <a:ahLst/>
              <a:cxnLst/>
              <a:rect l="l" t="t" r="r" b="b"/>
              <a:pathLst>
                <a:path w="37049113" h="9834855">
                  <a:moveTo>
                    <a:pt x="0" y="0"/>
                  </a:moveTo>
                  <a:lnTo>
                    <a:pt x="37049113" y="0"/>
                  </a:lnTo>
                  <a:lnTo>
                    <a:pt x="37049113" y="9834855"/>
                  </a:lnTo>
                  <a:lnTo>
                    <a:pt x="0" y="98348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10999"/>
              </a:blip>
              <a:stretch>
                <a:fillRect/>
              </a:stretch>
            </a:blipFill>
          </p:spPr>
        </p:sp>
        <p:sp>
          <p:nvSpPr>
            <p:cNvPr id="6" name="Freeform 6"/>
            <p:cNvSpPr/>
            <p:nvPr/>
          </p:nvSpPr>
          <p:spPr>
            <a:xfrm>
              <a:off x="12360216" y="3380364"/>
              <a:ext cx="24688897" cy="6110502"/>
            </a:xfrm>
            <a:custGeom>
              <a:avLst/>
              <a:gdLst/>
              <a:ahLst/>
              <a:cxnLst/>
              <a:rect l="l" t="t" r="r" b="b"/>
              <a:pathLst>
                <a:path w="24688897" h="6110502">
                  <a:moveTo>
                    <a:pt x="0" y="0"/>
                  </a:moveTo>
                  <a:lnTo>
                    <a:pt x="24688897" y="0"/>
                  </a:lnTo>
                  <a:lnTo>
                    <a:pt x="24688897" y="6110502"/>
                  </a:lnTo>
                  <a:lnTo>
                    <a:pt x="0" y="61105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47000"/>
              </a:blip>
              <a:stretch>
                <a:fillRect/>
              </a:stretch>
            </a:blipFill>
          </p:spPr>
        </p:sp>
      </p:grpSp>
      <p:grpSp>
        <p:nvGrpSpPr>
          <p:cNvPr id="7" name="Group 7"/>
          <p:cNvGrpSpPr/>
          <p:nvPr/>
        </p:nvGrpSpPr>
        <p:grpSpPr>
          <a:xfrm>
            <a:off x="-9384499" y="3356455"/>
            <a:ext cx="27786835" cy="7376142"/>
            <a:chOff x="0" y="0"/>
            <a:chExt cx="37049113" cy="983485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37049113" cy="9834855"/>
            </a:xfrm>
            <a:custGeom>
              <a:avLst/>
              <a:gdLst/>
              <a:ahLst/>
              <a:cxnLst/>
              <a:rect l="l" t="t" r="r" b="b"/>
              <a:pathLst>
                <a:path w="37049113" h="9834855">
                  <a:moveTo>
                    <a:pt x="0" y="0"/>
                  </a:moveTo>
                  <a:lnTo>
                    <a:pt x="37049113" y="0"/>
                  </a:lnTo>
                  <a:lnTo>
                    <a:pt x="37049113" y="9834855"/>
                  </a:lnTo>
                  <a:lnTo>
                    <a:pt x="0" y="98348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10999"/>
              </a:blip>
              <a:stretch>
                <a:fillRect/>
              </a:stretch>
            </a:blipFill>
          </p:spPr>
        </p:sp>
        <p:sp>
          <p:nvSpPr>
            <p:cNvPr id="9" name="Freeform 9"/>
            <p:cNvSpPr/>
            <p:nvPr/>
          </p:nvSpPr>
          <p:spPr>
            <a:xfrm>
              <a:off x="12360216" y="3380364"/>
              <a:ext cx="24688897" cy="6110502"/>
            </a:xfrm>
            <a:custGeom>
              <a:avLst/>
              <a:gdLst/>
              <a:ahLst/>
              <a:cxnLst/>
              <a:rect l="l" t="t" r="r" b="b"/>
              <a:pathLst>
                <a:path w="24688897" h="6110502">
                  <a:moveTo>
                    <a:pt x="0" y="0"/>
                  </a:moveTo>
                  <a:lnTo>
                    <a:pt x="24688897" y="0"/>
                  </a:lnTo>
                  <a:lnTo>
                    <a:pt x="24688897" y="6110502"/>
                  </a:lnTo>
                  <a:lnTo>
                    <a:pt x="0" y="61105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47000"/>
              </a:blip>
              <a:stretch>
                <a:fillRect/>
              </a:stretch>
            </a:blipFill>
          </p:spPr>
        </p:sp>
      </p:grpSp>
      <p:sp>
        <p:nvSpPr>
          <p:cNvPr id="10" name="Freeform 10"/>
          <p:cNvSpPr/>
          <p:nvPr/>
        </p:nvSpPr>
        <p:spPr>
          <a:xfrm rot="438126" flipH="1" flipV="1">
            <a:off x="-912403" y="-1841055"/>
            <a:ext cx="8523090" cy="8229600"/>
          </a:xfrm>
          <a:custGeom>
            <a:avLst/>
            <a:gdLst/>
            <a:ahLst/>
            <a:cxnLst/>
            <a:rect l="l" t="t" r="r" b="b"/>
            <a:pathLst>
              <a:path w="8523090" h="8229600">
                <a:moveTo>
                  <a:pt x="8523090" y="8229600"/>
                </a:moveTo>
                <a:lnTo>
                  <a:pt x="0" y="8229600"/>
                </a:lnTo>
                <a:lnTo>
                  <a:pt x="0" y="0"/>
                </a:lnTo>
                <a:lnTo>
                  <a:pt x="8523090" y="0"/>
                </a:lnTo>
                <a:lnTo>
                  <a:pt x="8523090" y="8229600"/>
                </a:lnTo>
                <a:close/>
              </a:path>
            </a:pathLst>
          </a:custGeom>
          <a:blipFill>
            <a:blip r:embed="rId5"/>
            <a:stretch>
              <a:fillRect l="-89326"/>
            </a:stretch>
          </a:blipFill>
          <a:ln cap="sq">
            <a:noFill/>
            <a:prstDash val="solid"/>
            <a:miter/>
          </a:ln>
        </p:spPr>
      </p:sp>
      <p:sp>
        <p:nvSpPr>
          <p:cNvPr id="11" name="Freeform 11"/>
          <p:cNvSpPr/>
          <p:nvPr/>
        </p:nvSpPr>
        <p:spPr>
          <a:xfrm rot="438126">
            <a:off x="10743681" y="4067509"/>
            <a:ext cx="8523090" cy="8229600"/>
          </a:xfrm>
          <a:custGeom>
            <a:avLst/>
            <a:gdLst/>
            <a:ahLst/>
            <a:cxnLst/>
            <a:rect l="l" t="t" r="r" b="b"/>
            <a:pathLst>
              <a:path w="8523090" h="8229600">
                <a:moveTo>
                  <a:pt x="0" y="0"/>
                </a:moveTo>
                <a:lnTo>
                  <a:pt x="8523090" y="0"/>
                </a:lnTo>
                <a:lnTo>
                  <a:pt x="852309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89326"/>
            </a:stretch>
          </a:blipFill>
          <a:ln cap="sq">
            <a:noFill/>
            <a:prstDash val="solid"/>
            <a:miter/>
          </a:ln>
        </p:spPr>
      </p:sp>
      <p:sp>
        <p:nvSpPr>
          <p:cNvPr id="12" name="TextBox 12"/>
          <p:cNvSpPr txBox="1"/>
          <p:nvPr/>
        </p:nvSpPr>
        <p:spPr>
          <a:xfrm>
            <a:off x="2787172" y="1723500"/>
            <a:ext cx="12713656" cy="12744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50"/>
              </a:lnSpc>
            </a:pPr>
            <a:r>
              <a:rPr lang="en-US" sz="7800" b="1">
                <a:solidFill>
                  <a:srgbClr val="233D7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Strategic Recommendations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575789" y="3483034"/>
            <a:ext cx="13253834" cy="20599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26111" lvl="1" indent="-313055" algn="l">
              <a:lnSpc>
                <a:spcPts val="4060"/>
              </a:lnSpc>
              <a:buFont typeface="Arial"/>
              <a:buChar char="•"/>
            </a:pPr>
            <a:r>
              <a:rPr lang="en-US" sz="2900">
                <a:solidFill>
                  <a:srgbClr val="233D7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Leverage Family Influence: Design digital campaigns focused on family-oriented values and long-term product reliability. </a:t>
            </a:r>
          </a:p>
          <a:p>
            <a:pPr marL="626111" lvl="1" indent="-313055" algn="l">
              <a:lnSpc>
                <a:spcPts val="4060"/>
              </a:lnSpc>
              <a:buFont typeface="Arial"/>
              <a:buChar char="•"/>
            </a:pPr>
            <a:r>
              <a:rPr lang="en-US" sz="2900">
                <a:solidFill>
                  <a:srgbClr val="233D7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Target Gen-Z / Young Adults: Increase engagement on Instagram, YouTube, and through influencer partnerships aimed at the 18–25 age bracket.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575789" y="5625018"/>
            <a:ext cx="13253834" cy="20599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26111" lvl="1" indent="-313055" algn="l">
              <a:lnSpc>
                <a:spcPts val="4060"/>
              </a:lnSpc>
              <a:buFont typeface="Arial"/>
              <a:buChar char="•"/>
            </a:pPr>
            <a:r>
              <a:rPr lang="en-US" sz="2900">
                <a:solidFill>
                  <a:srgbClr val="233D7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Interactive Retailing: Invest in live online product demos, immersive showroom experiences, and exhibitions for brand awareness.</a:t>
            </a:r>
          </a:p>
          <a:p>
            <a:pPr marL="626111" lvl="1" indent="-313055" algn="l">
              <a:lnSpc>
                <a:spcPts val="4060"/>
              </a:lnSpc>
              <a:buFont typeface="Arial"/>
              <a:buChar char="•"/>
            </a:pPr>
            <a:r>
              <a:rPr lang="en-US" sz="2900">
                <a:solidFill>
                  <a:srgbClr val="233D7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Strengthen Trust: Use authorized network messaging to highlight after-sales support and counter competitor visibility.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1028700" y="-544076"/>
            <a:ext cx="27786835" cy="7376142"/>
            <a:chOff x="0" y="0"/>
            <a:chExt cx="37049113" cy="983485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7049113" cy="9834855"/>
            </a:xfrm>
            <a:custGeom>
              <a:avLst/>
              <a:gdLst/>
              <a:ahLst/>
              <a:cxnLst/>
              <a:rect l="l" t="t" r="r" b="b"/>
              <a:pathLst>
                <a:path w="37049113" h="9834855">
                  <a:moveTo>
                    <a:pt x="0" y="0"/>
                  </a:moveTo>
                  <a:lnTo>
                    <a:pt x="37049113" y="0"/>
                  </a:lnTo>
                  <a:lnTo>
                    <a:pt x="37049113" y="9834855"/>
                  </a:lnTo>
                  <a:lnTo>
                    <a:pt x="0" y="98348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12360216" y="3380364"/>
              <a:ext cx="24688897" cy="6110502"/>
            </a:xfrm>
            <a:custGeom>
              <a:avLst/>
              <a:gdLst/>
              <a:ahLst/>
              <a:cxnLst/>
              <a:rect l="l" t="t" r="r" b="b"/>
              <a:pathLst>
                <a:path w="24688897" h="6110502">
                  <a:moveTo>
                    <a:pt x="0" y="0"/>
                  </a:moveTo>
                  <a:lnTo>
                    <a:pt x="24688897" y="0"/>
                  </a:lnTo>
                  <a:lnTo>
                    <a:pt x="24688897" y="6110502"/>
                  </a:lnTo>
                  <a:lnTo>
                    <a:pt x="0" y="61105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47000"/>
              </a:blip>
              <a:stretch>
                <a:fillRect/>
              </a:stretch>
            </a:blipFill>
          </p:spPr>
        </p:sp>
      </p:grpSp>
      <p:grpSp>
        <p:nvGrpSpPr>
          <p:cNvPr id="5" name="Group 5"/>
          <p:cNvGrpSpPr/>
          <p:nvPr/>
        </p:nvGrpSpPr>
        <p:grpSpPr>
          <a:xfrm>
            <a:off x="-9384499" y="3356455"/>
            <a:ext cx="27786835" cy="7376142"/>
            <a:chOff x="0" y="0"/>
            <a:chExt cx="37049113" cy="9834855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7049113" cy="9834855"/>
            </a:xfrm>
            <a:custGeom>
              <a:avLst/>
              <a:gdLst/>
              <a:ahLst/>
              <a:cxnLst/>
              <a:rect l="l" t="t" r="r" b="b"/>
              <a:pathLst>
                <a:path w="37049113" h="9834855">
                  <a:moveTo>
                    <a:pt x="0" y="0"/>
                  </a:moveTo>
                  <a:lnTo>
                    <a:pt x="37049113" y="0"/>
                  </a:lnTo>
                  <a:lnTo>
                    <a:pt x="37049113" y="9834855"/>
                  </a:lnTo>
                  <a:lnTo>
                    <a:pt x="0" y="98348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/>
              </a:stretch>
            </a:blipFill>
          </p:spPr>
        </p:sp>
        <p:sp>
          <p:nvSpPr>
            <p:cNvPr id="7" name="Freeform 7"/>
            <p:cNvSpPr/>
            <p:nvPr/>
          </p:nvSpPr>
          <p:spPr>
            <a:xfrm>
              <a:off x="12360216" y="3380364"/>
              <a:ext cx="24688897" cy="6110502"/>
            </a:xfrm>
            <a:custGeom>
              <a:avLst/>
              <a:gdLst/>
              <a:ahLst/>
              <a:cxnLst/>
              <a:rect l="l" t="t" r="r" b="b"/>
              <a:pathLst>
                <a:path w="24688897" h="6110502">
                  <a:moveTo>
                    <a:pt x="0" y="0"/>
                  </a:moveTo>
                  <a:lnTo>
                    <a:pt x="24688897" y="0"/>
                  </a:lnTo>
                  <a:lnTo>
                    <a:pt x="24688897" y="6110502"/>
                  </a:lnTo>
                  <a:lnTo>
                    <a:pt x="0" y="61105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47000"/>
              </a:blip>
              <a:stretch>
                <a:fillRect/>
              </a:stretch>
            </a:blipFill>
          </p:spPr>
        </p:sp>
      </p:grpSp>
      <p:sp>
        <p:nvSpPr>
          <p:cNvPr id="8" name="Freeform 8"/>
          <p:cNvSpPr/>
          <p:nvPr/>
        </p:nvSpPr>
        <p:spPr>
          <a:xfrm rot="-4361021">
            <a:off x="13003402" y="2582108"/>
            <a:ext cx="11355311" cy="3299422"/>
          </a:xfrm>
          <a:custGeom>
            <a:avLst/>
            <a:gdLst/>
            <a:ahLst/>
            <a:cxnLst/>
            <a:rect l="l" t="t" r="r" b="b"/>
            <a:pathLst>
              <a:path w="11355311" h="3299422">
                <a:moveTo>
                  <a:pt x="0" y="0"/>
                </a:moveTo>
                <a:lnTo>
                  <a:pt x="11355311" y="0"/>
                </a:lnTo>
                <a:lnTo>
                  <a:pt x="11355311" y="3299422"/>
                </a:lnTo>
                <a:lnTo>
                  <a:pt x="0" y="329942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rot="-4361021" flipH="1" flipV="1">
            <a:off x="-6070713" y="4405470"/>
            <a:ext cx="11355311" cy="3299422"/>
          </a:xfrm>
          <a:custGeom>
            <a:avLst/>
            <a:gdLst/>
            <a:ahLst/>
            <a:cxnLst/>
            <a:rect l="l" t="t" r="r" b="b"/>
            <a:pathLst>
              <a:path w="11355311" h="3299422">
                <a:moveTo>
                  <a:pt x="11355311" y="3299422"/>
                </a:moveTo>
                <a:lnTo>
                  <a:pt x="0" y="3299422"/>
                </a:lnTo>
                <a:lnTo>
                  <a:pt x="0" y="0"/>
                </a:lnTo>
                <a:lnTo>
                  <a:pt x="11355311" y="0"/>
                </a:lnTo>
                <a:lnTo>
                  <a:pt x="11355311" y="3299422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 rot="438126" flipH="1" flipV="1">
            <a:off x="-1222121" y="-2292237"/>
            <a:ext cx="8523090" cy="8229600"/>
          </a:xfrm>
          <a:custGeom>
            <a:avLst/>
            <a:gdLst/>
            <a:ahLst/>
            <a:cxnLst/>
            <a:rect l="l" t="t" r="r" b="b"/>
            <a:pathLst>
              <a:path w="8523090" h="8229600">
                <a:moveTo>
                  <a:pt x="8523090" y="8229600"/>
                </a:moveTo>
                <a:lnTo>
                  <a:pt x="0" y="8229600"/>
                </a:lnTo>
                <a:lnTo>
                  <a:pt x="0" y="0"/>
                </a:lnTo>
                <a:lnTo>
                  <a:pt x="8523090" y="0"/>
                </a:lnTo>
                <a:lnTo>
                  <a:pt x="8523090" y="8229600"/>
                </a:lnTo>
                <a:close/>
              </a:path>
            </a:pathLst>
          </a:custGeom>
          <a:blipFill>
            <a:blip r:embed="rId5"/>
            <a:stretch>
              <a:fillRect l="-89326"/>
            </a:stretch>
          </a:blipFill>
          <a:ln cap="sq">
            <a:noFill/>
            <a:prstDash val="solid"/>
            <a:miter/>
          </a:ln>
        </p:spPr>
      </p:sp>
      <p:sp>
        <p:nvSpPr>
          <p:cNvPr id="11" name="Freeform 11"/>
          <p:cNvSpPr/>
          <p:nvPr/>
        </p:nvSpPr>
        <p:spPr>
          <a:xfrm rot="438126">
            <a:off x="10987031" y="4349637"/>
            <a:ext cx="8523090" cy="8229600"/>
          </a:xfrm>
          <a:custGeom>
            <a:avLst/>
            <a:gdLst/>
            <a:ahLst/>
            <a:cxnLst/>
            <a:rect l="l" t="t" r="r" b="b"/>
            <a:pathLst>
              <a:path w="8523090" h="8229600">
                <a:moveTo>
                  <a:pt x="0" y="0"/>
                </a:moveTo>
                <a:lnTo>
                  <a:pt x="8523090" y="0"/>
                </a:lnTo>
                <a:lnTo>
                  <a:pt x="852309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89326"/>
            </a:stretch>
          </a:blipFill>
          <a:ln cap="sq">
            <a:noFill/>
            <a:prstDash val="solid"/>
            <a:miter/>
          </a:ln>
        </p:spPr>
      </p:sp>
      <p:sp>
        <p:nvSpPr>
          <p:cNvPr id="12" name="TextBox 12"/>
          <p:cNvSpPr txBox="1"/>
          <p:nvPr/>
        </p:nvSpPr>
        <p:spPr>
          <a:xfrm>
            <a:off x="2787172" y="1723500"/>
            <a:ext cx="12713656" cy="14204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000"/>
              </a:lnSpc>
            </a:pPr>
            <a:r>
              <a:rPr lang="en-US" sz="8800" b="1">
                <a:solidFill>
                  <a:srgbClr val="233D7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Conclusion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221845" y="3743227"/>
            <a:ext cx="13026731" cy="43502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70556" lvl="1" indent="-335278" algn="ctr">
              <a:lnSpc>
                <a:spcPts val="4348"/>
              </a:lnSpc>
              <a:buFont typeface="Arial"/>
              <a:buChar char="•"/>
            </a:pPr>
            <a:r>
              <a:rPr lang="en-US" sz="3105">
                <a:solidFill>
                  <a:srgbClr val="233D7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Digital Transformation: Digital channels have shifted from mere promotional spaces to core drivers of purchase behavior. </a:t>
            </a:r>
          </a:p>
          <a:p>
            <a:pPr marL="670556" lvl="1" indent="-335278" algn="ctr">
              <a:lnSpc>
                <a:spcPts val="4348"/>
              </a:lnSpc>
              <a:buFont typeface="Arial"/>
              <a:buChar char="•"/>
            </a:pPr>
            <a:r>
              <a:rPr lang="en-US" sz="3105">
                <a:solidFill>
                  <a:srgbClr val="233D7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LG's Edge: Strong brand recall and product quality remain key competitive strengths. </a:t>
            </a:r>
          </a:p>
          <a:p>
            <a:pPr marL="670556" lvl="1" indent="-335278" algn="ctr">
              <a:lnSpc>
                <a:spcPts val="4348"/>
              </a:lnSpc>
              <a:buFont typeface="Arial"/>
              <a:buChar char="•"/>
            </a:pPr>
            <a:r>
              <a:rPr lang="en-US" sz="3105">
                <a:solidFill>
                  <a:srgbClr val="233D7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Key Challenge: Closing the digital visibility gap where competitors like Samsung currently lead. </a:t>
            </a:r>
          </a:p>
          <a:p>
            <a:pPr marL="670556" lvl="1" indent="-335278" algn="ctr">
              <a:lnSpc>
                <a:spcPts val="4348"/>
              </a:lnSpc>
              <a:buFont typeface="Arial"/>
              <a:buChar char="•"/>
            </a:pPr>
            <a:r>
              <a:rPr lang="en-US" sz="3105">
                <a:solidFill>
                  <a:srgbClr val="233D7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Way Forward: A hybrid approach blending manufacturing quality with emotional, digital storytelling.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9384499" y="-134221"/>
            <a:ext cx="28653467" cy="10866818"/>
            <a:chOff x="0" y="0"/>
            <a:chExt cx="38204622" cy="14489090"/>
          </a:xfrm>
        </p:grpSpPr>
        <p:sp>
          <p:nvSpPr>
            <p:cNvPr id="3" name="Freeform 3"/>
            <p:cNvSpPr/>
            <p:nvPr/>
          </p:nvSpPr>
          <p:spPr>
            <a:xfrm>
              <a:off x="0" y="4654235"/>
              <a:ext cx="37049113" cy="9834855"/>
            </a:xfrm>
            <a:custGeom>
              <a:avLst/>
              <a:gdLst/>
              <a:ahLst/>
              <a:cxnLst/>
              <a:rect l="l" t="t" r="r" b="b"/>
              <a:pathLst>
                <a:path w="37049113" h="9834855">
                  <a:moveTo>
                    <a:pt x="0" y="0"/>
                  </a:moveTo>
                  <a:lnTo>
                    <a:pt x="37049113" y="0"/>
                  </a:lnTo>
                  <a:lnTo>
                    <a:pt x="37049113" y="9834855"/>
                  </a:lnTo>
                  <a:lnTo>
                    <a:pt x="0" y="98348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12360216" y="8034598"/>
              <a:ext cx="24688897" cy="6110502"/>
            </a:xfrm>
            <a:custGeom>
              <a:avLst/>
              <a:gdLst/>
              <a:ahLst/>
              <a:cxnLst/>
              <a:rect l="l" t="t" r="r" b="b"/>
              <a:pathLst>
                <a:path w="24688897" h="6110502">
                  <a:moveTo>
                    <a:pt x="0" y="0"/>
                  </a:moveTo>
                  <a:lnTo>
                    <a:pt x="24688897" y="0"/>
                  </a:lnTo>
                  <a:lnTo>
                    <a:pt x="24688897" y="6110502"/>
                  </a:lnTo>
                  <a:lnTo>
                    <a:pt x="0" y="61105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47000"/>
              </a:blip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 flipH="1" flipV="1">
              <a:off x="13515725" y="0"/>
              <a:ext cx="24688897" cy="6110502"/>
            </a:xfrm>
            <a:custGeom>
              <a:avLst/>
              <a:gdLst/>
              <a:ahLst/>
              <a:cxnLst/>
              <a:rect l="l" t="t" r="r" b="b"/>
              <a:pathLst>
                <a:path w="24688897" h="6110502">
                  <a:moveTo>
                    <a:pt x="24688897" y="6110502"/>
                  </a:moveTo>
                  <a:lnTo>
                    <a:pt x="0" y="6110502"/>
                  </a:lnTo>
                  <a:lnTo>
                    <a:pt x="0" y="0"/>
                  </a:lnTo>
                  <a:lnTo>
                    <a:pt x="24688897" y="0"/>
                  </a:lnTo>
                  <a:lnTo>
                    <a:pt x="24688897" y="6110502"/>
                  </a:lnTo>
                  <a:close/>
                </a:path>
              </a:pathLst>
            </a:custGeom>
            <a:blipFill>
              <a:blip r:embed="rId3">
                <a:alphaModFix amt="47000"/>
              </a:blip>
              <a:stretch>
                <a:fillRect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-3657933" y="-1679534"/>
            <a:ext cx="25603866" cy="13646068"/>
            <a:chOff x="0" y="0"/>
            <a:chExt cx="34138488" cy="18194757"/>
          </a:xfrm>
        </p:grpSpPr>
        <p:sp>
          <p:nvSpPr>
            <p:cNvPr id="7" name="Freeform 7"/>
            <p:cNvSpPr/>
            <p:nvPr/>
          </p:nvSpPr>
          <p:spPr>
            <a:xfrm rot="-4361021">
              <a:off x="22215114" y="5682189"/>
              <a:ext cx="15140415" cy="4399230"/>
            </a:xfrm>
            <a:custGeom>
              <a:avLst/>
              <a:gdLst/>
              <a:ahLst/>
              <a:cxnLst/>
              <a:rect l="l" t="t" r="r" b="b"/>
              <a:pathLst>
                <a:path w="15140415" h="4399230">
                  <a:moveTo>
                    <a:pt x="0" y="0"/>
                  </a:moveTo>
                  <a:lnTo>
                    <a:pt x="15140414" y="0"/>
                  </a:lnTo>
                  <a:lnTo>
                    <a:pt x="15140414" y="4399230"/>
                  </a:lnTo>
                  <a:lnTo>
                    <a:pt x="0" y="43992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8" name="Freeform 8"/>
            <p:cNvSpPr/>
            <p:nvPr/>
          </p:nvSpPr>
          <p:spPr>
            <a:xfrm rot="-4361021" flipH="1" flipV="1">
              <a:off x="-3217040" y="8113338"/>
              <a:ext cx="15140415" cy="4399230"/>
            </a:xfrm>
            <a:custGeom>
              <a:avLst/>
              <a:gdLst/>
              <a:ahLst/>
              <a:cxnLst/>
              <a:rect l="l" t="t" r="r" b="b"/>
              <a:pathLst>
                <a:path w="15140415" h="4399230">
                  <a:moveTo>
                    <a:pt x="15140414" y="4399230"/>
                  </a:moveTo>
                  <a:lnTo>
                    <a:pt x="0" y="4399230"/>
                  </a:lnTo>
                  <a:lnTo>
                    <a:pt x="0" y="0"/>
                  </a:lnTo>
                  <a:lnTo>
                    <a:pt x="15140414" y="0"/>
                  </a:lnTo>
                  <a:lnTo>
                    <a:pt x="15140414" y="439923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9" name="Freeform 9"/>
          <p:cNvSpPr/>
          <p:nvPr/>
        </p:nvSpPr>
        <p:spPr>
          <a:xfrm flipH="1" flipV="1">
            <a:off x="-603580" y="-100504"/>
            <a:ext cx="27786835" cy="7376142"/>
          </a:xfrm>
          <a:custGeom>
            <a:avLst/>
            <a:gdLst/>
            <a:ahLst/>
            <a:cxnLst/>
            <a:rect l="l" t="t" r="r" b="b"/>
            <a:pathLst>
              <a:path w="27786835" h="7376142">
                <a:moveTo>
                  <a:pt x="27786835" y="7376142"/>
                </a:moveTo>
                <a:lnTo>
                  <a:pt x="0" y="7376142"/>
                </a:lnTo>
                <a:lnTo>
                  <a:pt x="0" y="0"/>
                </a:lnTo>
                <a:lnTo>
                  <a:pt x="27786835" y="0"/>
                </a:lnTo>
                <a:lnTo>
                  <a:pt x="27786835" y="7376142"/>
                </a:lnTo>
                <a:close/>
              </a:path>
            </a:pathLst>
          </a:custGeom>
          <a:blipFill>
            <a:blip r:embed="rId2">
              <a:alphaModFix amt="10999"/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 rot="-5400000">
            <a:off x="11499449" y="3410327"/>
            <a:ext cx="7290002" cy="9545678"/>
          </a:xfrm>
          <a:custGeom>
            <a:avLst/>
            <a:gdLst/>
            <a:ahLst/>
            <a:cxnLst/>
            <a:rect l="l" t="t" r="r" b="b"/>
            <a:pathLst>
              <a:path w="7290002" h="9545678">
                <a:moveTo>
                  <a:pt x="0" y="0"/>
                </a:moveTo>
                <a:lnTo>
                  <a:pt x="7290002" y="0"/>
                </a:lnTo>
                <a:lnTo>
                  <a:pt x="7290002" y="9545678"/>
                </a:lnTo>
                <a:lnTo>
                  <a:pt x="0" y="954567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r="-156749"/>
            </a:stretch>
          </a:blipFill>
        </p:spPr>
      </p:sp>
      <p:sp>
        <p:nvSpPr>
          <p:cNvPr id="11" name="Freeform 11"/>
          <p:cNvSpPr/>
          <p:nvPr/>
        </p:nvSpPr>
        <p:spPr>
          <a:xfrm flipH="1" flipV="1">
            <a:off x="-1090470" y="-1957583"/>
            <a:ext cx="8523090" cy="8229600"/>
          </a:xfrm>
          <a:custGeom>
            <a:avLst/>
            <a:gdLst/>
            <a:ahLst/>
            <a:cxnLst/>
            <a:rect l="l" t="t" r="r" b="b"/>
            <a:pathLst>
              <a:path w="8523090" h="8229600">
                <a:moveTo>
                  <a:pt x="8523091" y="8229600"/>
                </a:moveTo>
                <a:lnTo>
                  <a:pt x="0" y="8229600"/>
                </a:lnTo>
                <a:lnTo>
                  <a:pt x="0" y="0"/>
                </a:lnTo>
                <a:lnTo>
                  <a:pt x="8523091" y="0"/>
                </a:lnTo>
                <a:lnTo>
                  <a:pt x="8523091" y="8229600"/>
                </a:lnTo>
                <a:close/>
              </a:path>
            </a:pathLst>
          </a:custGeom>
          <a:blipFill>
            <a:blip r:embed="rId6"/>
            <a:stretch>
              <a:fillRect l="-89326"/>
            </a:stretch>
          </a:blipFill>
          <a:ln cap="sq">
            <a:noFill/>
            <a:prstDash val="solid"/>
            <a:miter/>
          </a:ln>
        </p:spPr>
      </p:sp>
      <p:sp>
        <p:nvSpPr>
          <p:cNvPr id="12" name="TextBox 12"/>
          <p:cNvSpPr txBox="1"/>
          <p:nvPr/>
        </p:nvSpPr>
        <p:spPr>
          <a:xfrm>
            <a:off x="2648760" y="3847561"/>
            <a:ext cx="12990479" cy="21172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350"/>
              </a:lnSpc>
            </a:pPr>
            <a:r>
              <a:rPr lang="en-US" sz="13080" b="1">
                <a:solidFill>
                  <a:srgbClr val="233D7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THANK YOU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998163" y="5815234"/>
            <a:ext cx="8291675" cy="500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b="1" spc="375">
                <a:solidFill>
                  <a:srgbClr val="233D7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FOR YOUR ATTENTION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483</Words>
  <Application>Microsoft Office PowerPoint</Application>
  <PresentationFormat>Custom</PresentationFormat>
  <Paragraphs>53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Times New Roman Bold</vt:lpstr>
      <vt:lpstr>Arial</vt:lpstr>
      <vt:lpstr>Times New Roman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Blue and White Simple Modern Research Project Presentation</dc:title>
  <dc:creator>Dell</dc:creator>
  <cp:lastModifiedBy>VINNI TRIPATHI</cp:lastModifiedBy>
  <cp:revision>1</cp:revision>
  <dcterms:created xsi:type="dcterms:W3CDTF">2006-08-16T00:00:00Z</dcterms:created>
  <dcterms:modified xsi:type="dcterms:W3CDTF">2026-07-22T16:08:07Z</dcterms:modified>
  <dc:identifier>DAHQH6uKJm8</dc:identifier>
</cp:coreProperties>
</file>