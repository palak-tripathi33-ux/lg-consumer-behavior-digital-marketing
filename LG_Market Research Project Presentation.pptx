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0"/>
      <p:bold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322" y="50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384499" y="-134221"/>
            <a:ext cx="28653467" cy="10866818"/>
            <a:chOff x="0" y="0"/>
            <a:chExt cx="38204622" cy="14489090"/>
          </a:xfrm>
        </p:grpSpPr>
        <p:sp>
          <p:nvSpPr>
            <p:cNvPr id="3" name="Freeform 3"/>
            <p:cNvSpPr/>
            <p:nvPr/>
          </p:nvSpPr>
          <p:spPr>
            <a:xfrm>
              <a:off x="0" y="4654235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360216" y="8034598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 flipV="1">
              <a:off x="13515725" y="0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24688897" y="6110502"/>
                  </a:moveTo>
                  <a:lnTo>
                    <a:pt x="0" y="6110502"/>
                  </a:lnTo>
                  <a:lnTo>
                    <a:pt x="0" y="0"/>
                  </a:lnTo>
                  <a:lnTo>
                    <a:pt x="24688897" y="0"/>
                  </a:lnTo>
                  <a:lnTo>
                    <a:pt x="24688897" y="6110502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3657933" y="-1679534"/>
            <a:ext cx="25603866" cy="13646068"/>
            <a:chOff x="0" y="0"/>
            <a:chExt cx="34138488" cy="18194757"/>
          </a:xfrm>
        </p:grpSpPr>
        <p:sp>
          <p:nvSpPr>
            <p:cNvPr id="7" name="Freeform 7"/>
            <p:cNvSpPr/>
            <p:nvPr/>
          </p:nvSpPr>
          <p:spPr>
            <a:xfrm rot="-4361021">
              <a:off x="22215114" y="5682189"/>
              <a:ext cx="15140415" cy="4399230"/>
            </a:xfrm>
            <a:custGeom>
              <a:avLst/>
              <a:gdLst/>
              <a:ahLst/>
              <a:cxnLst/>
              <a:rect l="l" t="t" r="r" b="b"/>
              <a:pathLst>
                <a:path w="15140415" h="4399230">
                  <a:moveTo>
                    <a:pt x="0" y="0"/>
                  </a:moveTo>
                  <a:lnTo>
                    <a:pt x="15140414" y="0"/>
                  </a:lnTo>
                  <a:lnTo>
                    <a:pt x="15140414" y="4399230"/>
                  </a:lnTo>
                  <a:lnTo>
                    <a:pt x="0" y="439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4361021" flipH="1" flipV="1">
              <a:off x="-3217040" y="8113338"/>
              <a:ext cx="15140415" cy="4399230"/>
            </a:xfrm>
            <a:custGeom>
              <a:avLst/>
              <a:gdLst/>
              <a:ahLst/>
              <a:cxnLst/>
              <a:rect l="l" t="t" r="r" b="b"/>
              <a:pathLst>
                <a:path w="15140415" h="4399230">
                  <a:moveTo>
                    <a:pt x="15140414" y="4399230"/>
                  </a:moveTo>
                  <a:lnTo>
                    <a:pt x="0" y="4399230"/>
                  </a:lnTo>
                  <a:lnTo>
                    <a:pt x="0" y="0"/>
                  </a:lnTo>
                  <a:lnTo>
                    <a:pt x="15140414" y="0"/>
                  </a:lnTo>
                  <a:lnTo>
                    <a:pt x="15140414" y="439923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flipH="1" flipV="1">
            <a:off x="-603580" y="-100504"/>
            <a:ext cx="27786835" cy="7376142"/>
          </a:xfrm>
          <a:custGeom>
            <a:avLst/>
            <a:gdLst/>
            <a:ahLst/>
            <a:cxnLst/>
            <a:rect l="l" t="t" r="r" b="b"/>
            <a:pathLst>
              <a:path w="27786835" h="7376142">
                <a:moveTo>
                  <a:pt x="27786835" y="7376142"/>
                </a:moveTo>
                <a:lnTo>
                  <a:pt x="0" y="7376142"/>
                </a:lnTo>
                <a:lnTo>
                  <a:pt x="0" y="0"/>
                </a:lnTo>
                <a:lnTo>
                  <a:pt x="27786835" y="0"/>
                </a:lnTo>
                <a:lnTo>
                  <a:pt x="27786835" y="7376142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11047668" y="3258779"/>
            <a:ext cx="7290002" cy="9545678"/>
          </a:xfrm>
          <a:custGeom>
            <a:avLst/>
            <a:gdLst/>
            <a:ahLst/>
            <a:cxnLst/>
            <a:rect l="l" t="t" r="r" b="b"/>
            <a:pathLst>
              <a:path w="7290002" h="9545678">
                <a:moveTo>
                  <a:pt x="0" y="0"/>
                </a:moveTo>
                <a:lnTo>
                  <a:pt x="7290002" y="0"/>
                </a:lnTo>
                <a:lnTo>
                  <a:pt x="7290002" y="9545678"/>
                </a:lnTo>
                <a:lnTo>
                  <a:pt x="0" y="9545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6749"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673764" y="-1402609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1" y="0"/>
                </a:lnTo>
                <a:lnTo>
                  <a:pt x="8523091" y="8229600"/>
                </a:lnTo>
                <a:close/>
              </a:path>
            </a:pathLst>
          </a:custGeom>
          <a:blipFill>
            <a:blip r:embed="rId6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87172" y="2675447"/>
            <a:ext cx="13443428" cy="3824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and Consumer Purchase Decisions: A Study of LG Electronics</a:t>
            </a:r>
            <a:endParaRPr lang="en-US" sz="5400" b="1" dirty="0">
              <a:solidFill>
                <a:srgbClr val="233D7D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656247" y="6949157"/>
            <a:ext cx="8633590" cy="57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8"/>
              </a:lnSpc>
            </a:pPr>
            <a:r>
              <a:rPr lang="en-US" sz="3227" b="1" dirty="0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By Palak Tripathi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438126" flipH="1" flipV="1">
            <a:off x="-1222121" y="-22922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0987031" y="43496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1208567" y="3270730"/>
            <a:ext cx="10125703" cy="6298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Digital Shift</a:t>
            </a:r>
          </a:p>
          <a:p>
            <a:pPr algn="ctr">
              <a:lnSpc>
                <a:spcPts val="4339"/>
              </a:lnSpc>
            </a:pPr>
            <a:endParaRPr lang="en-US" sz="3399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decision-making has fundamentally transitioned from traditional media to digital touchpoints (SEO, social media, online reviews, and e-commerce platforms).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Primary Objective: Evaluate LG's digital marketing strategies and analyze their direct influence on final purchase choices.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Secondary Focus: Identify key digital channels, assess social media engagement, and quantify online review impacts.</a:t>
            </a:r>
          </a:p>
          <a:p>
            <a:pPr algn="l">
              <a:lnSpc>
                <a:spcPts val="3920"/>
              </a:lnSpc>
            </a:pPr>
            <a:endParaRPr lang="en-US" sz="2900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787172" y="1901728"/>
            <a:ext cx="12713656" cy="218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sz="68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 &amp; Research Goals</a:t>
            </a:r>
          </a:p>
          <a:p>
            <a:pPr algn="ctr">
              <a:lnSpc>
                <a:spcPts val="8500"/>
              </a:lnSpc>
            </a:pPr>
            <a:endParaRPr lang="en-US" sz="6800" b="1">
              <a:solidFill>
                <a:srgbClr val="233D7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4" name="Group 14"/>
          <p:cNvGrpSpPr/>
          <p:nvPr/>
        </p:nvGrpSpPr>
        <p:grpSpPr>
          <a:xfrm>
            <a:off x="11663106" y="3810660"/>
            <a:ext cx="4221702" cy="4221702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9858" y="0"/>
                  </a:moveTo>
                  <a:lnTo>
                    <a:pt x="722942" y="0"/>
                  </a:lnTo>
                  <a:cubicBezTo>
                    <a:pt x="746774" y="0"/>
                    <a:pt x="769630" y="9467"/>
                    <a:pt x="786481" y="26319"/>
                  </a:cubicBezTo>
                  <a:cubicBezTo>
                    <a:pt x="803333" y="43170"/>
                    <a:pt x="812800" y="66026"/>
                    <a:pt x="812800" y="89858"/>
                  </a:cubicBezTo>
                  <a:lnTo>
                    <a:pt x="812800" y="722942"/>
                  </a:lnTo>
                  <a:cubicBezTo>
                    <a:pt x="812800" y="746774"/>
                    <a:pt x="803333" y="769630"/>
                    <a:pt x="786481" y="786481"/>
                  </a:cubicBezTo>
                  <a:cubicBezTo>
                    <a:pt x="769630" y="803333"/>
                    <a:pt x="746774" y="812800"/>
                    <a:pt x="722942" y="812800"/>
                  </a:cubicBezTo>
                  <a:lnTo>
                    <a:pt x="89858" y="812800"/>
                  </a:lnTo>
                  <a:cubicBezTo>
                    <a:pt x="66026" y="812800"/>
                    <a:pt x="43170" y="803333"/>
                    <a:pt x="26319" y="786481"/>
                  </a:cubicBezTo>
                  <a:cubicBezTo>
                    <a:pt x="9467" y="769630"/>
                    <a:pt x="0" y="746774"/>
                    <a:pt x="0" y="722942"/>
                  </a:cubicBezTo>
                  <a:lnTo>
                    <a:pt x="0" y="89858"/>
                  </a:lnTo>
                  <a:cubicBezTo>
                    <a:pt x="0" y="66026"/>
                    <a:pt x="9467" y="43170"/>
                    <a:pt x="26319" y="26319"/>
                  </a:cubicBezTo>
                  <a:cubicBezTo>
                    <a:pt x="43170" y="9467"/>
                    <a:pt x="66026" y="0"/>
                    <a:pt x="89858" y="0"/>
                  </a:cubicBezTo>
                  <a:close/>
                </a:path>
              </a:pathLst>
            </a:custGeom>
            <a:blipFill>
              <a:blip r:embed="rId6"/>
              <a:stretch>
                <a:fillRect r="-78173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1782567" y="3944330"/>
            <a:ext cx="4221702" cy="4221702"/>
            <a:chOff x="0" y="0"/>
            <a:chExt cx="868663" cy="86866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8663" cy="868663"/>
            </a:xfrm>
            <a:custGeom>
              <a:avLst/>
              <a:gdLst/>
              <a:ahLst/>
              <a:cxnLst/>
              <a:rect l="l" t="t" r="r" b="b"/>
              <a:pathLst>
                <a:path w="868663" h="868663">
                  <a:moveTo>
                    <a:pt x="70202" y="0"/>
                  </a:moveTo>
                  <a:lnTo>
                    <a:pt x="798461" y="0"/>
                  </a:lnTo>
                  <a:cubicBezTo>
                    <a:pt x="837233" y="0"/>
                    <a:pt x="868663" y="31430"/>
                    <a:pt x="868663" y="70202"/>
                  </a:cubicBezTo>
                  <a:lnTo>
                    <a:pt x="868663" y="798461"/>
                  </a:lnTo>
                  <a:cubicBezTo>
                    <a:pt x="868663" y="817080"/>
                    <a:pt x="861267" y="834936"/>
                    <a:pt x="848101" y="848101"/>
                  </a:cubicBezTo>
                  <a:cubicBezTo>
                    <a:pt x="834936" y="861267"/>
                    <a:pt x="817080" y="868663"/>
                    <a:pt x="798461" y="868663"/>
                  </a:cubicBezTo>
                  <a:lnTo>
                    <a:pt x="70202" y="868663"/>
                  </a:lnTo>
                  <a:cubicBezTo>
                    <a:pt x="51583" y="868663"/>
                    <a:pt x="33727" y="861267"/>
                    <a:pt x="20562" y="848101"/>
                  </a:cubicBezTo>
                  <a:cubicBezTo>
                    <a:pt x="7396" y="834936"/>
                    <a:pt x="0" y="817080"/>
                    <a:pt x="0" y="798461"/>
                  </a:cubicBezTo>
                  <a:lnTo>
                    <a:pt x="0" y="70202"/>
                  </a:lnTo>
                  <a:cubicBezTo>
                    <a:pt x="0" y="51583"/>
                    <a:pt x="7396" y="33727"/>
                    <a:pt x="20562" y="20562"/>
                  </a:cubicBezTo>
                  <a:cubicBezTo>
                    <a:pt x="33727" y="7396"/>
                    <a:pt x="51583" y="0"/>
                    <a:pt x="70202" y="0"/>
                  </a:cubicBezTo>
                  <a:close/>
                </a:path>
              </a:pathLst>
            </a:custGeom>
            <a:ln w="38100" cap="rnd">
              <a:solidFill>
                <a:srgbClr val="B4C1EA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868663" cy="9067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438126" flipH="1" flipV="1">
            <a:off x="-1222121" y="-22922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0987031" y="43496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02526" y="1955498"/>
            <a:ext cx="12713656" cy="2082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5"/>
              </a:lnSpc>
            </a:pPr>
            <a:r>
              <a:rPr lang="en-US" sz="65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LG Electronics &amp; SWOT Analysis</a:t>
            </a:r>
          </a:p>
          <a:p>
            <a:pPr algn="ctr">
              <a:lnSpc>
                <a:spcPts val="8125"/>
              </a:lnSpc>
            </a:pPr>
            <a:endParaRPr lang="en-US" sz="6500" b="1">
              <a:solidFill>
                <a:srgbClr val="233D7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403192" y="3774687"/>
            <a:ext cx="13429476" cy="137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South Korean MNC founded as GoldStar. Vision: "Smart Life Solution Company" | Mission: "Better Life for All". Operating across 4 divisions: Home Appliance, Media Entertainment, Vehicle Solutions, and Eco Solutions.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67133" y="5988506"/>
            <a:ext cx="3590517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Weakness</a:t>
            </a:r>
          </a:p>
          <a:p>
            <a:pPr marL="539753" lvl="1" indent="-269876" algn="l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Strategic exit from mobile smartphone market segment.</a:t>
            </a:r>
          </a:p>
          <a:p>
            <a:pPr algn="l">
              <a:lnSpc>
                <a:spcPts val="3500"/>
              </a:lnSpc>
            </a:pPr>
            <a:endParaRPr lang="en-US" sz="2500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66590" y="5571940"/>
            <a:ext cx="3509660" cy="262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endParaRPr/>
          </a:p>
          <a:p>
            <a:pPr algn="ctr">
              <a:lnSpc>
                <a:spcPts val="3483"/>
              </a:lnSpc>
            </a:pPr>
            <a:r>
              <a:rPr lang="en-US" sz="2488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</a:t>
            </a:r>
          </a:p>
          <a:p>
            <a:pPr marL="537215" lvl="1" indent="-268608" algn="l">
              <a:lnSpc>
                <a:spcPts val="3483"/>
              </a:lnSpc>
              <a:buFont typeface="Arial"/>
              <a:buChar char="•"/>
            </a:pPr>
            <a:r>
              <a:rPr lang="en-US" sz="2488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Wide product range, high quality perception &amp; strong brand recall.</a:t>
            </a:r>
          </a:p>
          <a:p>
            <a:pPr algn="l">
              <a:lnSpc>
                <a:spcPts val="3483"/>
              </a:lnSpc>
            </a:pPr>
            <a:endParaRPr lang="en-US" sz="2488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957650" y="5988506"/>
            <a:ext cx="3924189" cy="215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455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Opportunity</a:t>
            </a:r>
          </a:p>
          <a:p>
            <a:pPr marL="530157" lvl="1" indent="-265078" algn="l">
              <a:lnSpc>
                <a:spcPts val="3437"/>
              </a:lnSpc>
              <a:buFont typeface="Arial"/>
              <a:buChar char="•"/>
            </a:pPr>
            <a:r>
              <a:rPr lang="en-US" sz="245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Rapid expansion of digitally active Indian middle-class demographic.</a:t>
            </a:r>
          </a:p>
          <a:p>
            <a:pPr algn="l">
              <a:lnSpc>
                <a:spcPts val="3437"/>
              </a:lnSpc>
            </a:pPr>
            <a:endParaRPr lang="en-US" sz="2455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583953" y="5502980"/>
            <a:ext cx="3730760" cy="2961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4"/>
              </a:lnSpc>
            </a:pPr>
            <a:endParaRPr/>
          </a:p>
          <a:p>
            <a:pPr algn="ctr">
              <a:lnSpc>
                <a:spcPts val="3384"/>
              </a:lnSpc>
            </a:pPr>
            <a:r>
              <a:rPr lang="en-US" sz="2417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Threat</a:t>
            </a:r>
          </a:p>
          <a:p>
            <a:pPr marL="521918" lvl="1" indent="-260959" algn="l">
              <a:lnSpc>
                <a:spcPts val="3384"/>
              </a:lnSpc>
              <a:buFont typeface="Arial"/>
              <a:buChar char="•"/>
            </a:pPr>
            <a:r>
              <a:rPr lang="en-US" sz="2417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Aggressive digital visibility &amp; pricing from Chinese competitors.</a:t>
            </a:r>
          </a:p>
          <a:p>
            <a:pPr algn="l">
              <a:lnSpc>
                <a:spcPts val="3384"/>
              </a:lnSpc>
            </a:pPr>
            <a:endParaRPr lang="en-US" sz="2417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3384"/>
              </a:lnSpc>
            </a:pPr>
            <a:endParaRPr lang="en-US" sz="2417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438126" flipH="1" flipV="1">
            <a:off x="-1222121" y="-22922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1549001" y="4740094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87172" y="1892203"/>
            <a:ext cx="12713656" cy="2587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7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Methodology</a:t>
            </a:r>
          </a:p>
          <a:p>
            <a:pPr algn="ctr">
              <a:lnSpc>
                <a:spcPts val="10500"/>
              </a:lnSpc>
            </a:pPr>
            <a:endParaRPr lang="en-US" sz="7700" b="1">
              <a:solidFill>
                <a:srgbClr val="233D7D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1720473" y="3502561"/>
            <a:ext cx="15894990" cy="1953895"/>
            <a:chOff x="0" y="0"/>
            <a:chExt cx="21193320" cy="2605193"/>
          </a:xfrm>
        </p:grpSpPr>
        <p:sp>
          <p:nvSpPr>
            <p:cNvPr id="14" name="TextBox 14"/>
            <p:cNvSpPr txBox="1"/>
            <p:nvPr/>
          </p:nvSpPr>
          <p:spPr>
            <a:xfrm>
              <a:off x="3203441" y="-85725"/>
              <a:ext cx="17989879" cy="26909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39"/>
                </a:lnSpc>
              </a:pPr>
              <a:r>
                <a:rPr lang="en-US" sz="3099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Design</a:t>
              </a:r>
            </a:p>
            <a:p>
              <a:pPr algn="l">
                <a:lnSpc>
                  <a:spcPts val="3920"/>
                </a:lnSpc>
              </a:pPr>
              <a:r>
                <a:rPr lang="en-US" sz="2800">
                  <a:solidFill>
                    <a:srgbClr val="233D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Descriptive Research Framework: Applied to observe, analyze, and quantify consumer behavior and digital interaction patterns with LG products without altering variables.</a:t>
              </a:r>
            </a:p>
            <a:p>
              <a:pPr algn="l">
                <a:lnSpc>
                  <a:spcPts val="3920"/>
                </a:lnSpc>
              </a:pPr>
              <a:endParaRPr lang="en-US" sz="28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1257"/>
              <a:ext cx="2844531" cy="191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50"/>
                </a:lnSpc>
              </a:pPr>
              <a:r>
                <a:rPr lang="en-US" sz="9000" b="1">
                  <a:solidFill>
                    <a:srgbClr val="233D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01.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229583" y="5219692"/>
            <a:ext cx="13029717" cy="2526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&amp; Target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Size: 101 Respondents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Comprising students (56%), working professionals, and digitally active young consumers navigating purchase decisions.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720473" y="5674113"/>
            <a:ext cx="2133398" cy="145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50"/>
              </a:lnSpc>
            </a:pPr>
            <a:r>
              <a:rPr lang="en-US" sz="90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720473" y="7653647"/>
            <a:ext cx="15408327" cy="1951355"/>
            <a:chOff x="0" y="0"/>
            <a:chExt cx="20544436" cy="2601807"/>
          </a:xfrm>
        </p:grpSpPr>
        <p:sp>
          <p:nvSpPr>
            <p:cNvPr id="19" name="TextBox 19"/>
            <p:cNvSpPr txBox="1"/>
            <p:nvPr/>
          </p:nvSpPr>
          <p:spPr>
            <a:xfrm>
              <a:off x="2804940" y="-76200"/>
              <a:ext cx="17739495" cy="26780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0"/>
                </a:lnSpc>
              </a:pPr>
              <a:r>
                <a:rPr lang="en-US" sz="29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Data Collection</a:t>
              </a:r>
            </a:p>
            <a:p>
              <a:pPr algn="ctr">
                <a:lnSpc>
                  <a:spcPts val="3780"/>
                </a:lnSpc>
              </a:pPr>
              <a:r>
                <a:rPr lang="en-US" sz="2700">
                  <a:solidFill>
                    <a:srgbClr val="233D7D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Primary + Secondary Sources: Primary data collected via structured Google Forms questionnaires (rating scales, closed &amp; open-ended questions) paired with industry journals.</a:t>
              </a:r>
            </a:p>
            <a:p>
              <a:pPr algn="ctr">
                <a:lnSpc>
                  <a:spcPts val="4479"/>
                </a:lnSpc>
              </a:pPr>
              <a:endParaRPr lang="en-US" sz="27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9748"/>
              <a:ext cx="2804940" cy="1914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1250"/>
                </a:lnSpc>
              </a:pPr>
              <a:r>
                <a:rPr lang="en-US" sz="9000" b="1">
                  <a:solidFill>
                    <a:srgbClr val="233D7D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438126" flipH="1" flipV="1">
            <a:off x="-1222121" y="-22922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0987031" y="43496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87172" y="1733025"/>
            <a:ext cx="12713656" cy="118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5"/>
              </a:lnSpc>
            </a:pPr>
            <a:r>
              <a:rPr lang="en-US" sz="73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 &amp; Data Analysis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02880" y="4154340"/>
            <a:ext cx="4528373" cy="5811886"/>
            <a:chOff x="0" y="0"/>
            <a:chExt cx="1065994" cy="13681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65994" cy="1368137"/>
            </a:xfrm>
            <a:custGeom>
              <a:avLst/>
              <a:gdLst/>
              <a:ahLst/>
              <a:cxnLst/>
              <a:rect l="l" t="t" r="r" b="b"/>
              <a:pathLst>
                <a:path w="1065994" h="1368137">
                  <a:moveTo>
                    <a:pt x="65447" y="0"/>
                  </a:moveTo>
                  <a:lnTo>
                    <a:pt x="1000547" y="0"/>
                  </a:lnTo>
                  <a:cubicBezTo>
                    <a:pt x="1017904" y="0"/>
                    <a:pt x="1034551" y="6895"/>
                    <a:pt x="1046825" y="19169"/>
                  </a:cubicBezTo>
                  <a:cubicBezTo>
                    <a:pt x="1059099" y="31443"/>
                    <a:pt x="1065994" y="48090"/>
                    <a:pt x="1065994" y="65447"/>
                  </a:cubicBezTo>
                  <a:lnTo>
                    <a:pt x="1065994" y="1302690"/>
                  </a:lnTo>
                  <a:cubicBezTo>
                    <a:pt x="1065994" y="1338836"/>
                    <a:pt x="1036692" y="1368137"/>
                    <a:pt x="1000547" y="1368137"/>
                  </a:cubicBezTo>
                  <a:lnTo>
                    <a:pt x="65447" y="1368137"/>
                  </a:lnTo>
                  <a:cubicBezTo>
                    <a:pt x="29302" y="1368137"/>
                    <a:pt x="0" y="1338836"/>
                    <a:pt x="0" y="1302690"/>
                  </a:cubicBezTo>
                  <a:lnTo>
                    <a:pt x="0" y="65447"/>
                  </a:lnTo>
                  <a:cubicBezTo>
                    <a:pt x="0" y="29302"/>
                    <a:pt x="29302" y="0"/>
                    <a:pt x="65447" y="0"/>
                  </a:cubicBezTo>
                  <a:close/>
                </a:path>
              </a:pathLst>
            </a:custGeom>
            <a:ln w="38100" cap="rnd">
              <a:solidFill>
                <a:srgbClr val="B4C1EA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065994" cy="1406237"/>
            </a:xfrm>
            <a:prstGeom prst="rect">
              <a:avLst/>
            </a:prstGeom>
          </p:spPr>
          <p:txBody>
            <a:bodyPr lIns="44403" tIns="44403" rIns="44403" bIns="4440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908130" y="4620046"/>
            <a:ext cx="3659366" cy="4573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58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Quality First: 65.3% rank product quality as the top factor influencing brand selection. </a:t>
            </a:r>
          </a:p>
          <a:p>
            <a:pPr algn="ctr">
              <a:lnSpc>
                <a:spcPts val="3619"/>
              </a:lnSpc>
            </a:pPr>
            <a:endParaRPr lang="en-US" sz="2585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619"/>
              </a:lnSpc>
            </a:pPr>
            <a:r>
              <a:rPr lang="en-US" sz="258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Demographic: 71% of LG users surveyed belong to the 18–25 age group; 56% of total respondents are students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879814" y="4154340"/>
            <a:ext cx="4528373" cy="5327184"/>
            <a:chOff x="0" y="0"/>
            <a:chExt cx="1065994" cy="125403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65994" cy="1254037"/>
            </a:xfrm>
            <a:custGeom>
              <a:avLst/>
              <a:gdLst/>
              <a:ahLst/>
              <a:cxnLst/>
              <a:rect l="l" t="t" r="r" b="b"/>
              <a:pathLst>
                <a:path w="1065994" h="1254037">
                  <a:moveTo>
                    <a:pt x="65447" y="0"/>
                  </a:moveTo>
                  <a:lnTo>
                    <a:pt x="1000547" y="0"/>
                  </a:lnTo>
                  <a:cubicBezTo>
                    <a:pt x="1017904" y="0"/>
                    <a:pt x="1034551" y="6895"/>
                    <a:pt x="1046825" y="19169"/>
                  </a:cubicBezTo>
                  <a:cubicBezTo>
                    <a:pt x="1059099" y="31443"/>
                    <a:pt x="1065994" y="48090"/>
                    <a:pt x="1065994" y="65447"/>
                  </a:cubicBezTo>
                  <a:lnTo>
                    <a:pt x="1065994" y="1188589"/>
                  </a:lnTo>
                  <a:cubicBezTo>
                    <a:pt x="1065994" y="1224735"/>
                    <a:pt x="1036692" y="1254037"/>
                    <a:pt x="1000547" y="1254037"/>
                  </a:cubicBezTo>
                  <a:lnTo>
                    <a:pt x="65447" y="1254037"/>
                  </a:lnTo>
                  <a:cubicBezTo>
                    <a:pt x="29302" y="1254037"/>
                    <a:pt x="0" y="1224735"/>
                    <a:pt x="0" y="1188589"/>
                  </a:cubicBezTo>
                  <a:lnTo>
                    <a:pt x="0" y="65447"/>
                  </a:lnTo>
                  <a:cubicBezTo>
                    <a:pt x="0" y="29302"/>
                    <a:pt x="29302" y="0"/>
                    <a:pt x="65447" y="0"/>
                  </a:cubicBezTo>
                  <a:close/>
                </a:path>
              </a:pathLst>
            </a:custGeom>
            <a:ln w="38100" cap="rnd">
              <a:solidFill>
                <a:srgbClr val="B4C1EA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065994" cy="1292137"/>
            </a:xfrm>
            <a:prstGeom prst="rect">
              <a:avLst/>
            </a:prstGeom>
          </p:spPr>
          <p:txBody>
            <a:bodyPr lIns="44403" tIns="44403" rIns="44403" bIns="4440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328944" y="4805577"/>
            <a:ext cx="3659366" cy="4115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19"/>
              </a:lnSpc>
            </a:pPr>
            <a:r>
              <a:rPr lang="en-US" sz="258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Satisfaction: 77.2% of respondents express satisfaction with LG products. </a:t>
            </a:r>
          </a:p>
          <a:p>
            <a:pPr algn="ctr">
              <a:lnSpc>
                <a:spcPts val="3619"/>
              </a:lnSpc>
            </a:pPr>
            <a:endParaRPr lang="en-US" sz="2585">
              <a:solidFill>
                <a:srgbClr val="233D7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3619"/>
              </a:lnSpc>
            </a:pPr>
            <a:r>
              <a:rPr lang="en-US" sz="258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Word-of-Mouth: 54.5% state family members are the primary decision drivers.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286001" y="4154340"/>
            <a:ext cx="4528373" cy="3926385"/>
            <a:chOff x="0" y="0"/>
            <a:chExt cx="1065994" cy="9242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65994" cy="924284"/>
            </a:xfrm>
            <a:custGeom>
              <a:avLst/>
              <a:gdLst/>
              <a:ahLst/>
              <a:cxnLst/>
              <a:rect l="l" t="t" r="r" b="b"/>
              <a:pathLst>
                <a:path w="1065994" h="924284">
                  <a:moveTo>
                    <a:pt x="65447" y="0"/>
                  </a:moveTo>
                  <a:lnTo>
                    <a:pt x="1000547" y="0"/>
                  </a:lnTo>
                  <a:cubicBezTo>
                    <a:pt x="1017904" y="0"/>
                    <a:pt x="1034551" y="6895"/>
                    <a:pt x="1046825" y="19169"/>
                  </a:cubicBezTo>
                  <a:cubicBezTo>
                    <a:pt x="1059099" y="31443"/>
                    <a:pt x="1065994" y="48090"/>
                    <a:pt x="1065994" y="65447"/>
                  </a:cubicBezTo>
                  <a:lnTo>
                    <a:pt x="1065994" y="858837"/>
                  </a:lnTo>
                  <a:cubicBezTo>
                    <a:pt x="1065994" y="894982"/>
                    <a:pt x="1036692" y="924284"/>
                    <a:pt x="1000547" y="924284"/>
                  </a:cubicBezTo>
                  <a:lnTo>
                    <a:pt x="65447" y="924284"/>
                  </a:lnTo>
                  <a:cubicBezTo>
                    <a:pt x="29302" y="924284"/>
                    <a:pt x="0" y="894982"/>
                    <a:pt x="0" y="858837"/>
                  </a:cubicBezTo>
                  <a:lnTo>
                    <a:pt x="0" y="65447"/>
                  </a:lnTo>
                  <a:cubicBezTo>
                    <a:pt x="0" y="29302"/>
                    <a:pt x="29302" y="0"/>
                    <a:pt x="65447" y="0"/>
                  </a:cubicBezTo>
                  <a:close/>
                </a:path>
              </a:pathLst>
            </a:custGeom>
            <a:ln w="38100" cap="rnd">
              <a:solidFill>
                <a:srgbClr val="B4C1E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065994" cy="962384"/>
            </a:xfrm>
            <a:prstGeom prst="rect">
              <a:avLst/>
            </a:prstGeom>
          </p:spPr>
          <p:txBody>
            <a:bodyPr lIns="44403" tIns="44403" rIns="44403" bIns="44403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2722636" y="5122935"/>
            <a:ext cx="3659366" cy="191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9"/>
              </a:lnSpc>
            </a:pPr>
            <a:r>
              <a:rPr lang="en-US" sz="268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Competitor Dynamics: Samsung leads the refrigerator segment at 37.6%, with LG at 26.7%</a:t>
            </a:r>
          </a:p>
        </p:txBody>
      </p:sp>
      <p:sp>
        <p:nvSpPr>
          <p:cNvPr id="25" name="Freeform 25"/>
          <p:cNvSpPr/>
          <p:nvPr/>
        </p:nvSpPr>
        <p:spPr>
          <a:xfrm>
            <a:off x="3767067" y="3384162"/>
            <a:ext cx="10783120" cy="770178"/>
          </a:xfrm>
          <a:custGeom>
            <a:avLst/>
            <a:gdLst/>
            <a:ahLst/>
            <a:cxnLst/>
            <a:rect l="l" t="t" r="r" b="b"/>
            <a:pathLst>
              <a:path w="10783120" h="770178">
                <a:moveTo>
                  <a:pt x="0" y="770178"/>
                </a:moveTo>
                <a:lnTo>
                  <a:pt x="0" y="228600"/>
                </a:lnTo>
                <a:cubicBezTo>
                  <a:pt x="0" y="167972"/>
                  <a:pt x="24084" y="109826"/>
                  <a:pt x="66955" y="66955"/>
                </a:cubicBezTo>
                <a:cubicBezTo>
                  <a:pt x="109826" y="24085"/>
                  <a:pt x="167971" y="0"/>
                  <a:pt x="228600" y="0"/>
                </a:cubicBezTo>
                <a:lnTo>
                  <a:pt x="10554519" y="0"/>
                </a:lnTo>
                <a:cubicBezTo>
                  <a:pt x="10680772" y="0"/>
                  <a:pt x="10783119" y="102348"/>
                  <a:pt x="10783119" y="228600"/>
                </a:cubicBezTo>
                <a:lnTo>
                  <a:pt x="10783119" y="770178"/>
                </a:lnTo>
              </a:path>
            </a:pathLst>
          </a:custGeom>
          <a:ln w="38100" cap="flat">
            <a:solidFill>
              <a:srgbClr val="233D7D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6" name="AutoShape 26"/>
          <p:cNvSpPr/>
          <p:nvPr/>
        </p:nvSpPr>
        <p:spPr>
          <a:xfrm flipV="1">
            <a:off x="9144000" y="3399010"/>
            <a:ext cx="0" cy="755330"/>
          </a:xfrm>
          <a:prstGeom prst="line">
            <a:avLst/>
          </a:prstGeom>
          <a:ln w="38100" cap="flat">
            <a:solidFill>
              <a:srgbClr val="233D7D"/>
            </a:solidFill>
            <a:prstDash val="solid"/>
            <a:headEnd type="oval" w="lg" len="lg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 rot="-10800000">
            <a:off x="0" y="-479322"/>
            <a:ext cx="27786835" cy="7376142"/>
            <a:chOff x="0" y="0"/>
            <a:chExt cx="37049113" cy="98348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10999"/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438126" flipH="1" flipV="1">
            <a:off x="-912403" y="-1841055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0743681" y="4067509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87172" y="1723500"/>
            <a:ext cx="12713656" cy="1274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50"/>
              </a:lnSpc>
            </a:pPr>
            <a:r>
              <a:rPr lang="en-US" sz="78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Strategic Recommendations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75789" y="3483034"/>
            <a:ext cx="13253834" cy="205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Leverage Family Influence: Design digital campaigns focused on family-oriented values and long-term product reliability. 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Gen-Z / Young Adults: Increase engagement on Instagram, YouTube, and through influencer partnerships aimed at the 18–25 age bracket.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75789" y="5625018"/>
            <a:ext cx="13253834" cy="2059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Retailing: Invest in live online product demos, immersive showroom experiences, and exhibitions for brand awareness.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Strengthen Trust: Use authorized network messaging to highlight after-sales support and counter competitor visibility.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028700" y="-544076"/>
            <a:ext cx="27786835" cy="7376142"/>
            <a:chOff x="0" y="0"/>
            <a:chExt cx="37049113" cy="98348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-9384499" y="3356455"/>
            <a:ext cx="27786835" cy="7376142"/>
            <a:chOff x="0" y="0"/>
            <a:chExt cx="37049113" cy="98348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360216" y="3380364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 rot="-4361021">
            <a:off x="13003402" y="2582108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0" y="0"/>
                </a:moveTo>
                <a:lnTo>
                  <a:pt x="11355311" y="0"/>
                </a:lnTo>
                <a:lnTo>
                  <a:pt x="11355311" y="3299422"/>
                </a:lnTo>
                <a:lnTo>
                  <a:pt x="0" y="32994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361021" flipH="1" flipV="1">
            <a:off x="-6070713" y="4405470"/>
            <a:ext cx="11355311" cy="3299422"/>
          </a:xfrm>
          <a:custGeom>
            <a:avLst/>
            <a:gdLst/>
            <a:ahLst/>
            <a:cxnLst/>
            <a:rect l="l" t="t" r="r" b="b"/>
            <a:pathLst>
              <a:path w="11355311" h="3299422">
                <a:moveTo>
                  <a:pt x="11355311" y="3299422"/>
                </a:moveTo>
                <a:lnTo>
                  <a:pt x="0" y="3299422"/>
                </a:lnTo>
                <a:lnTo>
                  <a:pt x="0" y="0"/>
                </a:lnTo>
                <a:lnTo>
                  <a:pt x="11355311" y="0"/>
                </a:lnTo>
                <a:lnTo>
                  <a:pt x="11355311" y="329942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438126" flipH="1" flipV="1">
            <a:off x="-1222121" y="-22922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0" y="0"/>
                </a:lnTo>
                <a:lnTo>
                  <a:pt x="8523090" y="822960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 rot="438126">
            <a:off x="10987031" y="4349637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0" y="0"/>
                </a:moveTo>
                <a:lnTo>
                  <a:pt x="8523090" y="0"/>
                </a:lnTo>
                <a:lnTo>
                  <a:pt x="852309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787172" y="1723500"/>
            <a:ext cx="12713656" cy="142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000"/>
              </a:lnSpc>
            </a:pPr>
            <a:r>
              <a:rPr lang="en-US" sz="880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21845" y="3743227"/>
            <a:ext cx="13026731" cy="435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0556" lvl="1" indent="-335278" algn="ctr">
              <a:lnSpc>
                <a:spcPts val="4348"/>
              </a:lnSpc>
              <a:buFont typeface="Arial"/>
              <a:buChar char="•"/>
            </a:pPr>
            <a:r>
              <a:rPr lang="en-US" sz="310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Transformation: Digital channels have shifted from mere promotional spaces to core drivers of purchase behavior. </a:t>
            </a:r>
          </a:p>
          <a:p>
            <a:pPr marL="670556" lvl="1" indent="-335278" algn="ctr">
              <a:lnSpc>
                <a:spcPts val="4348"/>
              </a:lnSpc>
              <a:buFont typeface="Arial"/>
              <a:buChar char="•"/>
            </a:pPr>
            <a:r>
              <a:rPr lang="en-US" sz="310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LG's Edge: Strong brand recall and product quality remain key competitive strengths. </a:t>
            </a:r>
          </a:p>
          <a:p>
            <a:pPr marL="670556" lvl="1" indent="-335278" algn="ctr">
              <a:lnSpc>
                <a:spcPts val="4348"/>
              </a:lnSpc>
              <a:buFont typeface="Arial"/>
              <a:buChar char="•"/>
            </a:pPr>
            <a:r>
              <a:rPr lang="en-US" sz="310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Challenge: Closing the digital visibility gap where competitors like Samsung currently lead. </a:t>
            </a:r>
          </a:p>
          <a:p>
            <a:pPr marL="670556" lvl="1" indent="-335278" algn="ctr">
              <a:lnSpc>
                <a:spcPts val="4348"/>
              </a:lnSpc>
              <a:buFont typeface="Arial"/>
              <a:buChar char="•"/>
            </a:pPr>
            <a:r>
              <a:rPr lang="en-US" sz="3105">
                <a:solidFill>
                  <a:srgbClr val="233D7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Forward: A hybrid approach blending manufacturing quality with emotional, digital storytelling.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384499" y="-134221"/>
            <a:ext cx="28653467" cy="10866818"/>
            <a:chOff x="0" y="0"/>
            <a:chExt cx="38204622" cy="14489090"/>
          </a:xfrm>
        </p:grpSpPr>
        <p:sp>
          <p:nvSpPr>
            <p:cNvPr id="3" name="Freeform 3"/>
            <p:cNvSpPr/>
            <p:nvPr/>
          </p:nvSpPr>
          <p:spPr>
            <a:xfrm>
              <a:off x="0" y="4654235"/>
              <a:ext cx="37049113" cy="9834855"/>
            </a:xfrm>
            <a:custGeom>
              <a:avLst/>
              <a:gdLst/>
              <a:ahLst/>
              <a:cxnLst/>
              <a:rect l="l" t="t" r="r" b="b"/>
              <a:pathLst>
                <a:path w="37049113" h="9834855">
                  <a:moveTo>
                    <a:pt x="0" y="0"/>
                  </a:moveTo>
                  <a:lnTo>
                    <a:pt x="37049113" y="0"/>
                  </a:lnTo>
                  <a:lnTo>
                    <a:pt x="37049113" y="9834855"/>
                  </a:lnTo>
                  <a:lnTo>
                    <a:pt x="0" y="98348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12360216" y="8034598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0" y="0"/>
                  </a:moveTo>
                  <a:lnTo>
                    <a:pt x="24688897" y="0"/>
                  </a:lnTo>
                  <a:lnTo>
                    <a:pt x="24688897" y="6110502"/>
                  </a:lnTo>
                  <a:lnTo>
                    <a:pt x="0" y="61105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flipH="1" flipV="1">
              <a:off x="13515725" y="0"/>
              <a:ext cx="24688897" cy="6110502"/>
            </a:xfrm>
            <a:custGeom>
              <a:avLst/>
              <a:gdLst/>
              <a:ahLst/>
              <a:cxnLst/>
              <a:rect l="l" t="t" r="r" b="b"/>
              <a:pathLst>
                <a:path w="24688897" h="6110502">
                  <a:moveTo>
                    <a:pt x="24688897" y="6110502"/>
                  </a:moveTo>
                  <a:lnTo>
                    <a:pt x="0" y="6110502"/>
                  </a:lnTo>
                  <a:lnTo>
                    <a:pt x="0" y="0"/>
                  </a:lnTo>
                  <a:lnTo>
                    <a:pt x="24688897" y="0"/>
                  </a:lnTo>
                  <a:lnTo>
                    <a:pt x="24688897" y="6110502"/>
                  </a:lnTo>
                  <a:close/>
                </a:path>
              </a:pathLst>
            </a:custGeom>
            <a:blipFill>
              <a:blip r:embed="rId3">
                <a:alphaModFix amt="47000"/>
              </a:blip>
              <a:stretch>
                <a:fillRect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-3657933" y="-1679534"/>
            <a:ext cx="25603866" cy="13646068"/>
            <a:chOff x="0" y="0"/>
            <a:chExt cx="34138488" cy="18194757"/>
          </a:xfrm>
        </p:grpSpPr>
        <p:sp>
          <p:nvSpPr>
            <p:cNvPr id="7" name="Freeform 7"/>
            <p:cNvSpPr/>
            <p:nvPr/>
          </p:nvSpPr>
          <p:spPr>
            <a:xfrm rot="-4361021">
              <a:off x="22215114" y="5682189"/>
              <a:ext cx="15140415" cy="4399230"/>
            </a:xfrm>
            <a:custGeom>
              <a:avLst/>
              <a:gdLst/>
              <a:ahLst/>
              <a:cxnLst/>
              <a:rect l="l" t="t" r="r" b="b"/>
              <a:pathLst>
                <a:path w="15140415" h="4399230">
                  <a:moveTo>
                    <a:pt x="0" y="0"/>
                  </a:moveTo>
                  <a:lnTo>
                    <a:pt x="15140414" y="0"/>
                  </a:lnTo>
                  <a:lnTo>
                    <a:pt x="15140414" y="4399230"/>
                  </a:lnTo>
                  <a:lnTo>
                    <a:pt x="0" y="43992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4361021" flipH="1" flipV="1">
              <a:off x="-3217040" y="8113338"/>
              <a:ext cx="15140415" cy="4399230"/>
            </a:xfrm>
            <a:custGeom>
              <a:avLst/>
              <a:gdLst/>
              <a:ahLst/>
              <a:cxnLst/>
              <a:rect l="l" t="t" r="r" b="b"/>
              <a:pathLst>
                <a:path w="15140415" h="4399230">
                  <a:moveTo>
                    <a:pt x="15140414" y="4399230"/>
                  </a:moveTo>
                  <a:lnTo>
                    <a:pt x="0" y="4399230"/>
                  </a:lnTo>
                  <a:lnTo>
                    <a:pt x="0" y="0"/>
                  </a:lnTo>
                  <a:lnTo>
                    <a:pt x="15140414" y="0"/>
                  </a:lnTo>
                  <a:lnTo>
                    <a:pt x="15140414" y="439923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 flipH="1" flipV="1">
            <a:off x="-603580" y="-100504"/>
            <a:ext cx="27786835" cy="7376142"/>
          </a:xfrm>
          <a:custGeom>
            <a:avLst/>
            <a:gdLst/>
            <a:ahLst/>
            <a:cxnLst/>
            <a:rect l="l" t="t" r="r" b="b"/>
            <a:pathLst>
              <a:path w="27786835" h="7376142">
                <a:moveTo>
                  <a:pt x="27786835" y="7376142"/>
                </a:moveTo>
                <a:lnTo>
                  <a:pt x="0" y="7376142"/>
                </a:lnTo>
                <a:lnTo>
                  <a:pt x="0" y="0"/>
                </a:lnTo>
                <a:lnTo>
                  <a:pt x="27786835" y="0"/>
                </a:lnTo>
                <a:lnTo>
                  <a:pt x="27786835" y="7376142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5400000">
            <a:off x="11499449" y="3410327"/>
            <a:ext cx="7290002" cy="9545678"/>
          </a:xfrm>
          <a:custGeom>
            <a:avLst/>
            <a:gdLst/>
            <a:ahLst/>
            <a:cxnLst/>
            <a:rect l="l" t="t" r="r" b="b"/>
            <a:pathLst>
              <a:path w="7290002" h="9545678">
                <a:moveTo>
                  <a:pt x="0" y="0"/>
                </a:moveTo>
                <a:lnTo>
                  <a:pt x="7290002" y="0"/>
                </a:lnTo>
                <a:lnTo>
                  <a:pt x="7290002" y="9545678"/>
                </a:lnTo>
                <a:lnTo>
                  <a:pt x="0" y="95456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156749"/>
            </a:stretch>
          </a:blipFill>
        </p:spPr>
      </p:sp>
      <p:sp>
        <p:nvSpPr>
          <p:cNvPr id="11" name="Freeform 11"/>
          <p:cNvSpPr/>
          <p:nvPr/>
        </p:nvSpPr>
        <p:spPr>
          <a:xfrm flipH="1" flipV="1">
            <a:off x="-1090470" y="-1957583"/>
            <a:ext cx="8523090" cy="8229600"/>
          </a:xfrm>
          <a:custGeom>
            <a:avLst/>
            <a:gdLst/>
            <a:ahLst/>
            <a:cxnLst/>
            <a:rect l="l" t="t" r="r" b="b"/>
            <a:pathLst>
              <a:path w="8523090" h="8229600">
                <a:moveTo>
                  <a:pt x="8523091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8523091" y="0"/>
                </a:lnTo>
                <a:lnTo>
                  <a:pt x="8523091" y="8229600"/>
                </a:lnTo>
                <a:close/>
              </a:path>
            </a:pathLst>
          </a:custGeom>
          <a:blipFill>
            <a:blip r:embed="rId6"/>
            <a:stretch>
              <a:fillRect l="-89326"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2648760" y="3847561"/>
            <a:ext cx="12990479" cy="2117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350"/>
              </a:lnSpc>
            </a:pPr>
            <a:r>
              <a:rPr lang="en-US" sz="13080" b="1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98163" y="5815234"/>
            <a:ext cx="8291675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 spc="375">
                <a:solidFill>
                  <a:srgbClr val="233D7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493</Words>
  <Application>Microsoft Office PowerPoint</Application>
  <PresentationFormat>Custom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Times New Roman Bold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Modern Research Project Presentation</dc:title>
  <dc:creator>Dell</dc:creator>
  <cp:lastModifiedBy>VINNI TRIPATHI</cp:lastModifiedBy>
  <cp:revision>2</cp:revision>
  <dcterms:created xsi:type="dcterms:W3CDTF">2006-08-16T00:00:00Z</dcterms:created>
  <dcterms:modified xsi:type="dcterms:W3CDTF">2026-07-22T16:18:20Z</dcterms:modified>
  <dc:identifier>DAHQH6uKJm8</dc:identifier>
</cp:coreProperties>
</file>