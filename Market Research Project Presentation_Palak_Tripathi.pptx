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95973"/>
            <a:ext cx="18288000" cy="8703665"/>
          </a:xfrm>
          <a:custGeom>
            <a:avLst/>
            <a:gdLst/>
            <a:ahLst/>
            <a:cxnLst/>
            <a:rect l="l" t="t" r="r" b="b"/>
            <a:pathLst>
              <a:path w="18288000" h="8703665">
                <a:moveTo>
                  <a:pt x="0" y="0"/>
                </a:moveTo>
                <a:lnTo>
                  <a:pt x="18288000" y="0"/>
                </a:lnTo>
                <a:lnTo>
                  <a:pt x="18288000" y="8703666"/>
                </a:lnTo>
                <a:lnTo>
                  <a:pt x="0" y="8703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127" b="-2012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53867" y="451959"/>
            <a:ext cx="16405433" cy="9379520"/>
            <a:chOff x="0" y="0"/>
            <a:chExt cx="3168156" cy="18113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68156" cy="1811338"/>
            </a:xfrm>
            <a:custGeom>
              <a:avLst/>
              <a:gdLst/>
              <a:ahLst/>
              <a:cxnLst/>
              <a:rect l="l" t="t" r="r" b="b"/>
              <a:pathLst>
                <a:path w="3168156" h="1811338">
                  <a:moveTo>
                    <a:pt x="0" y="0"/>
                  </a:moveTo>
                  <a:lnTo>
                    <a:pt x="3168156" y="0"/>
                  </a:lnTo>
                  <a:lnTo>
                    <a:pt x="3168156" y="1811338"/>
                  </a:lnTo>
                  <a:lnTo>
                    <a:pt x="0" y="1811338"/>
                  </a:lnTo>
                  <a:close/>
                </a:path>
              </a:pathLst>
            </a:custGeom>
            <a:ln w="1238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168156" cy="1830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83219" y="0"/>
            <a:ext cx="7850252" cy="10287000"/>
            <a:chOff x="0" y="0"/>
            <a:chExt cx="206755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7556" cy="2709333"/>
            </a:xfrm>
            <a:custGeom>
              <a:avLst/>
              <a:gdLst/>
              <a:ahLst/>
              <a:cxnLst/>
              <a:rect l="l" t="t" r="r" b="b"/>
              <a:pathLst>
                <a:path w="2067556" h="2709333">
                  <a:moveTo>
                    <a:pt x="0" y="0"/>
                  </a:moveTo>
                  <a:lnTo>
                    <a:pt x="2067556" y="0"/>
                  </a:lnTo>
                  <a:lnTo>
                    <a:pt x="20675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67556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83219" y="2560160"/>
            <a:ext cx="7850252" cy="244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29"/>
              </a:lnSpc>
              <a:spcBef>
                <a:spcPct val="0"/>
              </a:spcBef>
            </a:pPr>
            <a:r>
              <a:rPr lang="en-US" sz="3499" b="1" spc="48" dirty="0">
                <a:solidFill>
                  <a:srgbClr val="2C2D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DIGITAL MARKETING STRATEGIES ON CONSUMER PURCHASE DECISION: A STUDY OF LG ELECTRONICS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0289" y="6740333"/>
            <a:ext cx="7593182" cy="175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26"/>
              </a:lnSpc>
              <a:buFont typeface="Arial"/>
              <a:buChar char="•"/>
            </a:pPr>
            <a:r>
              <a:rPr lang="en-US" sz="2700" spc="37" dirty="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PALAK TRIPATHI | BBA 4TH SEMESTER</a:t>
            </a:r>
          </a:p>
          <a:p>
            <a:pPr algn="l">
              <a:lnSpc>
                <a:spcPts val="3726"/>
              </a:lnSpc>
            </a:pPr>
            <a:r>
              <a:rPr lang="en-US" sz="2700" spc="37" dirty="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PSIT College of Higher Education, </a:t>
            </a:r>
          </a:p>
          <a:p>
            <a:pPr algn="ctr">
              <a:lnSpc>
                <a:spcPts val="3726"/>
              </a:lnSpc>
            </a:pPr>
            <a:r>
              <a:rPr lang="en-US" sz="2700" spc="37" dirty="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KANPUR, 2025-26             </a:t>
            </a:r>
          </a:p>
          <a:p>
            <a:pPr algn="l">
              <a:lnSpc>
                <a:spcPts val="2760"/>
              </a:lnSpc>
            </a:pPr>
            <a:endParaRPr lang="en-US" sz="2700" spc="37" dirty="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973854" y="0"/>
            <a:ext cx="304590" cy="10287000"/>
            <a:chOff x="0" y="0"/>
            <a:chExt cx="80221" cy="2709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221" cy="2709333"/>
            </a:xfrm>
            <a:custGeom>
              <a:avLst/>
              <a:gdLst/>
              <a:ahLst/>
              <a:cxnLst/>
              <a:rect l="l" t="t" r="r" b="b"/>
              <a:pathLst>
                <a:path w="80221" h="2709333">
                  <a:moveTo>
                    <a:pt x="0" y="0"/>
                  </a:moveTo>
                  <a:lnTo>
                    <a:pt x="80221" y="0"/>
                  </a:lnTo>
                  <a:lnTo>
                    <a:pt x="802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0221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38246" y="-1781"/>
            <a:ext cx="304590" cy="10287000"/>
            <a:chOff x="0" y="0"/>
            <a:chExt cx="80221" cy="27093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221" cy="2709333"/>
            </a:xfrm>
            <a:custGeom>
              <a:avLst/>
              <a:gdLst/>
              <a:ahLst/>
              <a:cxnLst/>
              <a:rect l="l" t="t" r="r" b="b"/>
              <a:pathLst>
                <a:path w="80221" h="2709333">
                  <a:moveTo>
                    <a:pt x="0" y="0"/>
                  </a:moveTo>
                  <a:lnTo>
                    <a:pt x="80221" y="0"/>
                  </a:lnTo>
                  <a:lnTo>
                    <a:pt x="8022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80221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2718778"/>
          </a:xfrm>
          <a:custGeom>
            <a:avLst/>
            <a:gdLst/>
            <a:ahLst/>
            <a:cxnLst/>
            <a:rect l="l" t="t" r="r" b="b"/>
            <a:pathLst>
              <a:path w="18288000" h="2718778">
                <a:moveTo>
                  <a:pt x="0" y="0"/>
                </a:moveTo>
                <a:lnTo>
                  <a:pt x="18288000" y="0"/>
                </a:lnTo>
                <a:lnTo>
                  <a:pt x="18288000" y="2718778"/>
                </a:lnTo>
                <a:lnTo>
                  <a:pt x="0" y="2718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7898" b="-19109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28078" y="-9517596"/>
            <a:ext cx="4124379" cy="13390023"/>
            <a:chOff x="0" y="0"/>
            <a:chExt cx="1086256" cy="35265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6256" cy="3526591"/>
            </a:xfrm>
            <a:custGeom>
              <a:avLst/>
              <a:gdLst/>
              <a:ahLst/>
              <a:cxnLst/>
              <a:rect l="l" t="t" r="r" b="b"/>
              <a:pathLst>
                <a:path w="1086256" h="3526591">
                  <a:moveTo>
                    <a:pt x="0" y="0"/>
                  </a:moveTo>
                  <a:lnTo>
                    <a:pt x="1086256" y="0"/>
                  </a:lnTo>
                  <a:lnTo>
                    <a:pt x="1086256" y="3526591"/>
                  </a:lnTo>
                  <a:lnTo>
                    <a:pt x="0" y="352659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86256" cy="3545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50435" y="1843224"/>
            <a:ext cx="3555126" cy="1618605"/>
            <a:chOff x="0" y="0"/>
            <a:chExt cx="686553" cy="3125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6553" cy="312579"/>
            </a:xfrm>
            <a:custGeom>
              <a:avLst/>
              <a:gdLst/>
              <a:ahLst/>
              <a:cxnLst/>
              <a:rect l="l" t="t" r="r" b="b"/>
              <a:pathLst>
                <a:path w="686553" h="312579">
                  <a:moveTo>
                    <a:pt x="0" y="0"/>
                  </a:moveTo>
                  <a:lnTo>
                    <a:pt x="686553" y="0"/>
                  </a:lnTo>
                  <a:lnTo>
                    <a:pt x="686553" y="312579"/>
                  </a:lnTo>
                  <a:lnTo>
                    <a:pt x="0" y="312579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686553" cy="398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4416"/>
                </a:lnSpc>
                <a:spcBef>
                  <a:spcPct val="0"/>
                </a:spcBef>
              </a:pPr>
              <a:r>
                <a:rPr lang="en-US" sz="3200" b="1" spc="44" dirty="0">
                  <a:solidFill>
                    <a:srgbClr val="2C2D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-5400000">
            <a:off x="4548942" y="6451624"/>
            <a:ext cx="47689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-5400000">
            <a:off x="8974124" y="6451624"/>
            <a:ext cx="47689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3742137" y="3886184"/>
            <a:ext cx="1695391" cy="1375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18"/>
              </a:lnSpc>
            </a:pPr>
            <a:r>
              <a:rPr lang="en-US" sz="7727" b="1">
                <a:solidFill>
                  <a:srgbClr val="FFCB1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28078" y="5340966"/>
            <a:ext cx="3777483" cy="334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9"/>
              </a:lnSpc>
            </a:pPr>
            <a:r>
              <a:rPr lang="en-US" sz="2724" spc="266" dirty="0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shift from traditional to digital marketing (social media, SEO, influencer marketing, e-commerce)</a:t>
            </a:r>
          </a:p>
          <a:p>
            <a:pPr algn="ctr">
              <a:lnSpc>
                <a:spcPts val="3897"/>
              </a:lnSpc>
            </a:pPr>
            <a:endParaRPr lang="en-US" sz="2724" spc="266" dirty="0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71315" y="3886184"/>
            <a:ext cx="1695391" cy="1375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18"/>
              </a:lnSpc>
            </a:pPr>
            <a:r>
              <a:rPr lang="en-US" sz="7727" b="1">
                <a:solidFill>
                  <a:srgbClr val="FFCB1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7257" y="5340966"/>
            <a:ext cx="3777483" cy="33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9"/>
              </a:lnSpc>
            </a:pPr>
            <a:r>
              <a:rPr lang="en-US" sz="2724" spc="266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Objectives: Study LG's digital strategies | Analyze consumer purchase decisions | Examine digital marketing impact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96498" y="3886184"/>
            <a:ext cx="1695391" cy="1375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18"/>
              </a:lnSpc>
            </a:pPr>
            <a:r>
              <a:rPr lang="en-US" sz="7727" b="1">
                <a:solidFill>
                  <a:srgbClr val="FFCB1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82439" y="5340966"/>
            <a:ext cx="3777483" cy="286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9"/>
              </a:lnSpc>
            </a:pPr>
            <a:r>
              <a:rPr lang="en-US" sz="2724" spc="266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Objectives: Identify key digital channels | Assess social media effect | Evaluate role of online reviews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97489" y="-2081551"/>
            <a:ext cx="4124379" cy="13390023"/>
            <a:chOff x="0" y="0"/>
            <a:chExt cx="1086256" cy="35265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86256" cy="3526591"/>
            </a:xfrm>
            <a:custGeom>
              <a:avLst/>
              <a:gdLst/>
              <a:ahLst/>
              <a:cxnLst/>
              <a:rect l="l" t="t" r="r" b="b"/>
              <a:pathLst>
                <a:path w="1086256" h="3526591">
                  <a:moveTo>
                    <a:pt x="0" y="0"/>
                  </a:moveTo>
                  <a:lnTo>
                    <a:pt x="1086256" y="0"/>
                  </a:lnTo>
                  <a:lnTo>
                    <a:pt x="1086256" y="3526591"/>
                  </a:lnTo>
                  <a:lnTo>
                    <a:pt x="0" y="3526591"/>
                  </a:lnTo>
                  <a:close/>
                </a:path>
              </a:pathLst>
            </a:custGeom>
            <a:solidFill>
              <a:srgbClr val="FFCB13">
                <a:alpha val="8078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86256" cy="3545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50435" y="1713798"/>
            <a:ext cx="10747054" cy="1618605"/>
            <a:chOff x="0" y="0"/>
            <a:chExt cx="2075431" cy="3125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431" cy="312579"/>
            </a:xfrm>
            <a:custGeom>
              <a:avLst/>
              <a:gdLst/>
              <a:ahLst/>
              <a:cxnLst/>
              <a:rect l="l" t="t" r="r" b="b"/>
              <a:pathLst>
                <a:path w="2075431" h="312579">
                  <a:moveTo>
                    <a:pt x="0" y="0"/>
                  </a:moveTo>
                  <a:lnTo>
                    <a:pt x="2075431" y="0"/>
                  </a:lnTo>
                  <a:lnTo>
                    <a:pt x="2075431" y="312579"/>
                  </a:lnTo>
                  <a:lnTo>
                    <a:pt x="0" y="312579"/>
                  </a:lnTo>
                  <a:close/>
                </a:path>
              </a:pathLst>
            </a:custGeom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2075431" cy="398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5796"/>
                </a:lnSpc>
                <a:spcBef>
                  <a:spcPct val="0"/>
                </a:spcBef>
              </a:pPr>
              <a:r>
                <a:rPr lang="en-US" sz="4200" spc="58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4200" b="1" spc="58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COMPANY PROFILE &amp; SWOT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050435" y="3708078"/>
            <a:ext cx="3642216" cy="4529208"/>
            <a:chOff x="0" y="0"/>
            <a:chExt cx="959267" cy="11928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9267" cy="1192878"/>
            </a:xfrm>
            <a:custGeom>
              <a:avLst/>
              <a:gdLst/>
              <a:ahLst/>
              <a:cxnLst/>
              <a:rect l="l" t="t" r="r" b="b"/>
              <a:pathLst>
                <a:path w="959267" h="1192878">
                  <a:moveTo>
                    <a:pt x="0" y="0"/>
                  </a:moveTo>
                  <a:lnTo>
                    <a:pt x="959267" y="0"/>
                  </a:lnTo>
                  <a:lnTo>
                    <a:pt x="959267" y="1192878"/>
                  </a:lnTo>
                  <a:lnTo>
                    <a:pt x="0" y="11928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959267" cy="1211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244092" y="4105575"/>
            <a:ext cx="3254297" cy="3315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LG Electronics: South Korean MNC, founded as GoldStar, rebranded 1995</a:t>
            </a:r>
          </a:p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Vision: "Smart Life Solution Company" | Mission: "Better Life for All"</a:t>
            </a:r>
          </a:p>
          <a:p>
            <a:pPr algn="ctr">
              <a:lnSpc>
                <a:spcPts val="2712"/>
              </a:lnSpc>
            </a:pPr>
            <a:endParaRPr lang="en-US" sz="2165" b="1" spc="212">
              <a:solidFill>
                <a:srgbClr val="231F2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3511564" y="7118069"/>
            <a:ext cx="928806" cy="896720"/>
          </a:xfrm>
          <a:custGeom>
            <a:avLst/>
            <a:gdLst/>
            <a:ahLst/>
            <a:cxnLst/>
            <a:rect l="l" t="t" r="r" b="b"/>
            <a:pathLst>
              <a:path w="928806" h="896720">
                <a:moveTo>
                  <a:pt x="0" y="0"/>
                </a:moveTo>
                <a:lnTo>
                  <a:pt x="928805" y="0"/>
                </a:lnTo>
                <a:lnTo>
                  <a:pt x="928805" y="896720"/>
                </a:lnTo>
                <a:lnTo>
                  <a:pt x="0" y="896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241339" y="3708078"/>
            <a:ext cx="3642216" cy="4529208"/>
            <a:chOff x="0" y="0"/>
            <a:chExt cx="959267" cy="11928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9267" cy="1192878"/>
            </a:xfrm>
            <a:custGeom>
              <a:avLst/>
              <a:gdLst/>
              <a:ahLst/>
              <a:cxnLst/>
              <a:rect l="l" t="t" r="r" b="b"/>
              <a:pathLst>
                <a:path w="959267" h="1192878">
                  <a:moveTo>
                    <a:pt x="0" y="0"/>
                  </a:moveTo>
                  <a:lnTo>
                    <a:pt x="959267" y="0"/>
                  </a:lnTo>
                  <a:lnTo>
                    <a:pt x="959267" y="1192878"/>
                  </a:lnTo>
                  <a:lnTo>
                    <a:pt x="0" y="11928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959267" cy="1211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493457" y="4105575"/>
            <a:ext cx="3137979" cy="1855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 Divisions: Home Appliance | Media Entertainment | Vehicle Solutions | Eco Solutions</a:t>
            </a:r>
          </a:p>
        </p:txBody>
      </p:sp>
      <p:sp>
        <p:nvSpPr>
          <p:cNvPr id="18" name="Freeform 18"/>
          <p:cNvSpPr/>
          <p:nvPr/>
        </p:nvSpPr>
        <p:spPr>
          <a:xfrm>
            <a:off x="7551617" y="7073646"/>
            <a:ext cx="974818" cy="941143"/>
          </a:xfrm>
          <a:custGeom>
            <a:avLst/>
            <a:gdLst/>
            <a:ahLst/>
            <a:cxnLst/>
            <a:rect l="l" t="t" r="r" b="b"/>
            <a:pathLst>
              <a:path w="974818" h="941143">
                <a:moveTo>
                  <a:pt x="0" y="0"/>
                </a:moveTo>
                <a:lnTo>
                  <a:pt x="974818" y="0"/>
                </a:lnTo>
                <a:lnTo>
                  <a:pt x="974818" y="941143"/>
                </a:lnTo>
                <a:lnTo>
                  <a:pt x="0" y="941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1436005" y="3708078"/>
            <a:ext cx="3642216" cy="4529208"/>
            <a:chOff x="0" y="0"/>
            <a:chExt cx="959267" cy="119287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9267" cy="1192878"/>
            </a:xfrm>
            <a:custGeom>
              <a:avLst/>
              <a:gdLst/>
              <a:ahLst/>
              <a:cxnLst/>
              <a:rect l="l" t="t" r="r" b="b"/>
              <a:pathLst>
                <a:path w="959267" h="1192878">
                  <a:moveTo>
                    <a:pt x="0" y="0"/>
                  </a:moveTo>
                  <a:lnTo>
                    <a:pt x="959267" y="0"/>
                  </a:lnTo>
                  <a:lnTo>
                    <a:pt x="959267" y="1192878"/>
                  </a:lnTo>
                  <a:lnTo>
                    <a:pt x="0" y="11928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59267" cy="1211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688123" y="4079286"/>
            <a:ext cx="3137979" cy="334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SWOT snapshot: Wide product range (Strength) | Exit from smartphone market (Weakness) | Growing Indian middle class (Opportunity) | Chinese brands      (Threat)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740805" y="6972329"/>
            <a:ext cx="927060" cy="896720"/>
          </a:xfrm>
          <a:custGeom>
            <a:avLst/>
            <a:gdLst/>
            <a:ahLst/>
            <a:cxnLst/>
            <a:rect l="l" t="t" r="r" b="b"/>
            <a:pathLst>
              <a:path w="927060" h="896720">
                <a:moveTo>
                  <a:pt x="0" y="0"/>
                </a:moveTo>
                <a:lnTo>
                  <a:pt x="927059" y="0"/>
                </a:lnTo>
                <a:lnTo>
                  <a:pt x="927059" y="896719"/>
                </a:lnTo>
                <a:lnTo>
                  <a:pt x="0" y="896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14036"/>
            <a:ext cx="2797016" cy="13390023"/>
            <a:chOff x="0" y="0"/>
            <a:chExt cx="736663" cy="35265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6663" cy="3526591"/>
            </a:xfrm>
            <a:custGeom>
              <a:avLst/>
              <a:gdLst/>
              <a:ahLst/>
              <a:cxnLst/>
              <a:rect l="l" t="t" r="r" b="b"/>
              <a:pathLst>
                <a:path w="736663" h="3526591">
                  <a:moveTo>
                    <a:pt x="0" y="0"/>
                  </a:moveTo>
                  <a:lnTo>
                    <a:pt x="736663" y="0"/>
                  </a:lnTo>
                  <a:lnTo>
                    <a:pt x="736663" y="3526591"/>
                  </a:lnTo>
                  <a:lnTo>
                    <a:pt x="0" y="3526591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36663" cy="3545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96874" y="389985"/>
            <a:ext cx="17410941" cy="4753515"/>
          </a:xfrm>
          <a:custGeom>
            <a:avLst/>
            <a:gdLst/>
            <a:ahLst/>
            <a:cxnLst/>
            <a:rect l="l" t="t" r="r" b="b"/>
            <a:pathLst>
              <a:path w="17410941" h="4753515">
                <a:moveTo>
                  <a:pt x="0" y="0"/>
                </a:moveTo>
                <a:lnTo>
                  <a:pt x="17410941" y="0"/>
                </a:lnTo>
                <a:lnTo>
                  <a:pt x="17410941" y="4753515"/>
                </a:lnTo>
                <a:lnTo>
                  <a:pt x="0" y="475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18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8059" y="1683791"/>
            <a:ext cx="14591539" cy="118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83"/>
              </a:lnSpc>
              <a:spcBef>
                <a:spcPct val="0"/>
              </a:spcBef>
            </a:pPr>
            <a:r>
              <a:rPr lang="en-US" sz="6799" b="1" spc="95" dirty="0">
                <a:solidFill>
                  <a:srgbClr val="FE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 METHODOLOGY</a:t>
            </a:r>
          </a:p>
        </p:txBody>
      </p:sp>
      <p:sp>
        <p:nvSpPr>
          <p:cNvPr id="7" name="Freeform 7"/>
          <p:cNvSpPr/>
          <p:nvPr/>
        </p:nvSpPr>
        <p:spPr>
          <a:xfrm>
            <a:off x="1550500" y="7531413"/>
            <a:ext cx="3543081" cy="669735"/>
          </a:xfrm>
          <a:custGeom>
            <a:avLst/>
            <a:gdLst/>
            <a:ahLst/>
            <a:cxnLst/>
            <a:rect l="l" t="t" r="r" b="b"/>
            <a:pathLst>
              <a:path w="3543081" h="669735">
                <a:moveTo>
                  <a:pt x="0" y="0"/>
                </a:moveTo>
                <a:lnTo>
                  <a:pt x="3543082" y="0"/>
                </a:lnTo>
                <a:lnTo>
                  <a:pt x="3543082" y="669734"/>
                </a:lnTo>
                <a:lnTo>
                  <a:pt x="0" y="669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482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50500" y="4515225"/>
            <a:ext cx="3543081" cy="3351055"/>
            <a:chOff x="0" y="0"/>
            <a:chExt cx="1373252" cy="12988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3252" cy="1298825"/>
            </a:xfrm>
            <a:custGeom>
              <a:avLst/>
              <a:gdLst/>
              <a:ahLst/>
              <a:cxnLst/>
              <a:rect l="l" t="t" r="r" b="b"/>
              <a:pathLst>
                <a:path w="1373252" h="1298825">
                  <a:moveTo>
                    <a:pt x="0" y="0"/>
                  </a:moveTo>
                  <a:lnTo>
                    <a:pt x="1373252" y="0"/>
                  </a:lnTo>
                  <a:lnTo>
                    <a:pt x="1373252" y="1298825"/>
                  </a:lnTo>
                  <a:lnTo>
                    <a:pt x="0" y="1298825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373252" cy="131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79772" y="4733351"/>
            <a:ext cx="2907120" cy="29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Design:</a:t>
            </a:r>
            <a:r>
              <a:rPr lang="en-US" sz="2165" spc="212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Descriptive</a:t>
            </a:r>
          </a:p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Sample Size:</a:t>
            </a:r>
            <a:r>
              <a:rPr lang="en-US" sz="2165" spc="212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101 respondents</a:t>
            </a:r>
          </a:p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Tools:</a:t>
            </a:r>
            <a:r>
              <a:rPr lang="en-US" sz="2165" spc="212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Closed-ended &amp; open-ended questions, rating scales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932288" y="7531413"/>
            <a:ext cx="3543081" cy="669735"/>
          </a:xfrm>
          <a:custGeom>
            <a:avLst/>
            <a:gdLst/>
            <a:ahLst/>
            <a:cxnLst/>
            <a:rect l="l" t="t" r="r" b="b"/>
            <a:pathLst>
              <a:path w="3543081" h="669735">
                <a:moveTo>
                  <a:pt x="0" y="0"/>
                </a:moveTo>
                <a:lnTo>
                  <a:pt x="3543081" y="0"/>
                </a:lnTo>
                <a:lnTo>
                  <a:pt x="3543081" y="669734"/>
                </a:lnTo>
                <a:lnTo>
                  <a:pt x="0" y="669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482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932288" y="4515225"/>
            <a:ext cx="3543081" cy="3351055"/>
            <a:chOff x="0" y="0"/>
            <a:chExt cx="1373252" cy="12988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3252" cy="1298825"/>
            </a:xfrm>
            <a:custGeom>
              <a:avLst/>
              <a:gdLst/>
              <a:ahLst/>
              <a:cxnLst/>
              <a:rect l="l" t="t" r="r" b="b"/>
              <a:pathLst>
                <a:path w="1373252" h="1298825">
                  <a:moveTo>
                    <a:pt x="0" y="0"/>
                  </a:moveTo>
                  <a:lnTo>
                    <a:pt x="1373252" y="0"/>
                  </a:lnTo>
                  <a:lnTo>
                    <a:pt x="1373252" y="1298825"/>
                  </a:lnTo>
                  <a:lnTo>
                    <a:pt x="0" y="1298825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373252" cy="131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61559" y="4733351"/>
            <a:ext cx="2907120" cy="222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Collection:</a:t>
            </a:r>
            <a:r>
              <a:rPr lang="en-US" sz="2165" spc="212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Primary (structured Google Forms questionnaire) + Secondary (journals, books, reports)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471638" y="5649456"/>
            <a:ext cx="1082593" cy="108259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95959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317019" y="7531413"/>
            <a:ext cx="3543081" cy="669735"/>
          </a:xfrm>
          <a:custGeom>
            <a:avLst/>
            <a:gdLst/>
            <a:ahLst/>
            <a:cxnLst/>
            <a:rect l="l" t="t" r="r" b="b"/>
            <a:pathLst>
              <a:path w="3543081" h="669735">
                <a:moveTo>
                  <a:pt x="0" y="0"/>
                </a:moveTo>
                <a:lnTo>
                  <a:pt x="3543081" y="0"/>
                </a:lnTo>
                <a:lnTo>
                  <a:pt x="3543081" y="669734"/>
                </a:lnTo>
                <a:lnTo>
                  <a:pt x="0" y="669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482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2317019" y="4515225"/>
            <a:ext cx="3543081" cy="3351055"/>
            <a:chOff x="0" y="0"/>
            <a:chExt cx="1373252" cy="12988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73252" cy="1298825"/>
            </a:xfrm>
            <a:custGeom>
              <a:avLst/>
              <a:gdLst/>
              <a:ahLst/>
              <a:cxnLst/>
              <a:rect l="l" t="t" r="r" b="b"/>
              <a:pathLst>
                <a:path w="1373252" h="1298825">
                  <a:moveTo>
                    <a:pt x="0" y="0"/>
                  </a:moveTo>
                  <a:lnTo>
                    <a:pt x="1373252" y="0"/>
                  </a:lnTo>
                  <a:lnTo>
                    <a:pt x="1373252" y="1298825"/>
                  </a:lnTo>
                  <a:lnTo>
                    <a:pt x="0" y="1298825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373252" cy="131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46290" y="4733351"/>
            <a:ext cx="2907120" cy="2226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165" b="1" spc="212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Respondents</a:t>
            </a:r>
            <a:r>
              <a:rPr lang="en-US" sz="2165" spc="212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Students, working professionals, young digitally active consumers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856369" y="5649456"/>
            <a:ext cx="1082593" cy="108259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959595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66506" y="-864755"/>
            <a:ext cx="12634059" cy="1263405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726968" y="-8068241"/>
            <a:ext cx="12634059" cy="1263405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5714" y="2941270"/>
            <a:ext cx="1394882" cy="1328942"/>
          </a:xfrm>
          <a:custGeom>
            <a:avLst/>
            <a:gdLst/>
            <a:ahLst/>
            <a:cxnLst/>
            <a:rect l="l" t="t" r="r" b="b"/>
            <a:pathLst>
              <a:path w="1394882" h="1328942">
                <a:moveTo>
                  <a:pt x="0" y="0"/>
                </a:moveTo>
                <a:lnTo>
                  <a:pt x="1394882" y="0"/>
                </a:lnTo>
                <a:lnTo>
                  <a:pt x="1394882" y="1328942"/>
                </a:lnTo>
                <a:lnTo>
                  <a:pt x="0" y="1328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8328" y="6045289"/>
            <a:ext cx="1212268" cy="1159369"/>
          </a:xfrm>
          <a:custGeom>
            <a:avLst/>
            <a:gdLst/>
            <a:ahLst/>
            <a:cxnLst/>
            <a:rect l="l" t="t" r="r" b="b"/>
            <a:pathLst>
              <a:path w="1212268" h="1159369">
                <a:moveTo>
                  <a:pt x="0" y="0"/>
                </a:moveTo>
                <a:lnTo>
                  <a:pt x="1212268" y="0"/>
                </a:lnTo>
                <a:lnTo>
                  <a:pt x="1212268" y="1159369"/>
                </a:lnTo>
                <a:lnTo>
                  <a:pt x="0" y="1159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05714" y="1598864"/>
            <a:ext cx="10161322" cy="80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8"/>
              </a:lnSpc>
              <a:spcBef>
                <a:spcPct val="0"/>
              </a:spcBef>
            </a:pPr>
            <a:r>
              <a:rPr lang="en-US" sz="4600" b="1" spc="64" dirty="0">
                <a:solidFill>
                  <a:srgbClr val="2C2D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ANALYSIS &amp; KEY FINDINGS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39366" y="2884120"/>
            <a:ext cx="6728305" cy="289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829" lvl="1" indent="-259915" algn="l">
              <a:lnSpc>
                <a:spcPts val="3322"/>
              </a:lnSpc>
              <a:buFont typeface="Arial"/>
              <a:buChar char="•"/>
            </a:pPr>
            <a:r>
              <a:rPr lang="en-US" sz="2407" b="1" spc="235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Q1: </a:t>
            </a:r>
            <a:r>
              <a:rPr lang="en-US" sz="2407" spc="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is the #1 brand selection factor — 65.3% respondents</a:t>
            </a:r>
          </a:p>
          <a:p>
            <a:pPr marL="519829" lvl="1" indent="-259915" algn="l">
              <a:lnSpc>
                <a:spcPts val="3322"/>
              </a:lnSpc>
              <a:buFont typeface="Arial"/>
              <a:buChar char="•"/>
            </a:pPr>
            <a:r>
              <a:rPr lang="en-US" sz="2407" b="1" spc="235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Q2: </a:t>
            </a:r>
            <a:r>
              <a:rPr lang="en-US" sz="2407" spc="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Samsung leads refrigerator ownership (37.6%), LG second (26.7%)</a:t>
            </a:r>
          </a:p>
          <a:p>
            <a:pPr marL="519829" lvl="1" indent="-259915" algn="l">
              <a:lnSpc>
                <a:spcPts val="3322"/>
              </a:lnSpc>
              <a:buFont typeface="Arial"/>
              <a:buChar char="•"/>
            </a:pPr>
            <a:r>
              <a:rPr lang="en-US" sz="2407" b="1" spc="235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Q3: </a:t>
            </a:r>
            <a:r>
              <a:rPr lang="en-US" sz="2407" spc="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 members most influential in buying decisions — 54.5%</a:t>
            </a:r>
          </a:p>
          <a:p>
            <a:pPr algn="l">
              <a:lnSpc>
                <a:spcPts val="3046"/>
              </a:lnSpc>
            </a:pPr>
            <a:endParaRPr lang="en-US" sz="2407" spc="235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939366" y="5988139"/>
            <a:ext cx="6352220" cy="293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829" lvl="1" indent="-259915" algn="l">
              <a:lnSpc>
                <a:spcPts val="3322"/>
              </a:lnSpc>
              <a:buFont typeface="Arial"/>
              <a:buChar char="•"/>
            </a:pPr>
            <a:r>
              <a:rPr lang="en-US" sz="2407" b="1" spc="235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Q4: </a:t>
            </a:r>
            <a:r>
              <a:rPr lang="en-US" sz="2407" spc="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group 18–25 forms largest LG user segment — 71%</a:t>
            </a:r>
          </a:p>
          <a:p>
            <a:pPr marL="519829" lvl="1" indent="-259915" algn="l">
              <a:lnSpc>
                <a:spcPts val="3322"/>
              </a:lnSpc>
              <a:buFont typeface="Arial"/>
              <a:buChar char="•"/>
            </a:pPr>
            <a:r>
              <a:rPr lang="en-US" sz="2407" b="1" spc="235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Q5: </a:t>
            </a:r>
            <a:r>
              <a:rPr lang="en-US" sz="2407" spc="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77.2% respondents satisfied with LG products</a:t>
            </a:r>
          </a:p>
          <a:p>
            <a:pPr marL="519829" lvl="1" indent="-259915" algn="l">
              <a:lnSpc>
                <a:spcPts val="3322"/>
              </a:lnSpc>
              <a:buFont typeface="Arial"/>
              <a:buChar char="•"/>
            </a:pPr>
            <a:r>
              <a:rPr lang="en-US" sz="2407" b="1" spc="235">
                <a:solidFill>
                  <a:srgbClr val="231F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Q6: </a:t>
            </a:r>
            <a:r>
              <a:rPr lang="en-US" sz="2407" spc="235">
                <a:solidFill>
                  <a:srgbClr val="231F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dominate the survey — 56% of respondents</a:t>
            </a:r>
          </a:p>
          <a:p>
            <a:pPr algn="l">
              <a:lnSpc>
                <a:spcPts val="3322"/>
              </a:lnSpc>
            </a:pPr>
            <a:endParaRPr lang="en-US" sz="2407" spc="235">
              <a:solidFill>
                <a:srgbClr val="231F2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37556" cy="10287000"/>
          </a:xfrm>
          <a:custGeom>
            <a:avLst/>
            <a:gdLst/>
            <a:ahLst/>
            <a:cxnLst/>
            <a:rect l="l" t="t" r="r" b="b"/>
            <a:pathLst>
              <a:path w="6937556" h="10287000">
                <a:moveTo>
                  <a:pt x="0" y="0"/>
                </a:moveTo>
                <a:lnTo>
                  <a:pt x="6937556" y="0"/>
                </a:lnTo>
                <a:lnTo>
                  <a:pt x="69375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475" r="-6508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91796" y="1028700"/>
            <a:ext cx="12064363" cy="8229600"/>
            <a:chOff x="0" y="0"/>
            <a:chExt cx="317744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77446" cy="2167467"/>
            </a:xfrm>
            <a:custGeom>
              <a:avLst/>
              <a:gdLst/>
              <a:ahLst/>
              <a:cxnLst/>
              <a:rect l="l" t="t" r="r" b="b"/>
              <a:pathLst>
                <a:path w="3177446" h="2167467">
                  <a:moveTo>
                    <a:pt x="0" y="0"/>
                  </a:moveTo>
                  <a:lnTo>
                    <a:pt x="3177446" y="0"/>
                  </a:lnTo>
                  <a:lnTo>
                    <a:pt x="317744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177446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79985" y="1028700"/>
            <a:ext cx="214295" cy="8229600"/>
            <a:chOff x="0" y="0"/>
            <a:chExt cx="56440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440" cy="2167467"/>
            </a:xfrm>
            <a:custGeom>
              <a:avLst/>
              <a:gdLst/>
              <a:ahLst/>
              <a:cxnLst/>
              <a:rect l="l" t="t" r="r" b="b"/>
              <a:pathLst>
                <a:path w="56440" h="2167467">
                  <a:moveTo>
                    <a:pt x="0" y="0"/>
                  </a:moveTo>
                  <a:lnTo>
                    <a:pt x="56440" y="0"/>
                  </a:lnTo>
                  <a:lnTo>
                    <a:pt x="5644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440" cy="2186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90510" y="1096912"/>
            <a:ext cx="11438796" cy="125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35"/>
              </a:lnSpc>
              <a:spcBef>
                <a:spcPct val="0"/>
              </a:spcBef>
            </a:pPr>
            <a:r>
              <a:rPr lang="en-US" sz="7200" spc="100" dirty="0">
                <a:solidFill>
                  <a:srgbClr val="FE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229329" y="2458483"/>
            <a:ext cx="3914671" cy="5757678"/>
            <a:chOff x="0" y="0"/>
            <a:chExt cx="864128" cy="12709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4128" cy="1270956"/>
            </a:xfrm>
            <a:custGeom>
              <a:avLst/>
              <a:gdLst/>
              <a:ahLst/>
              <a:cxnLst/>
              <a:rect l="l" t="t" r="r" b="b"/>
              <a:pathLst>
                <a:path w="864128" h="1270956">
                  <a:moveTo>
                    <a:pt x="0" y="0"/>
                  </a:moveTo>
                  <a:lnTo>
                    <a:pt x="864128" y="0"/>
                  </a:lnTo>
                  <a:lnTo>
                    <a:pt x="864128" y="1270956"/>
                  </a:lnTo>
                  <a:lnTo>
                    <a:pt x="0" y="1270956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14300"/>
              <a:ext cx="864128" cy="138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94146" y="2458483"/>
            <a:ext cx="3914671" cy="5757678"/>
            <a:chOff x="0" y="0"/>
            <a:chExt cx="864128" cy="12709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4128" cy="1270956"/>
            </a:xfrm>
            <a:custGeom>
              <a:avLst/>
              <a:gdLst/>
              <a:ahLst/>
              <a:cxnLst/>
              <a:rect l="l" t="t" r="r" b="b"/>
              <a:pathLst>
                <a:path w="864128" h="1270956">
                  <a:moveTo>
                    <a:pt x="0" y="0"/>
                  </a:moveTo>
                  <a:lnTo>
                    <a:pt x="864128" y="0"/>
                  </a:lnTo>
                  <a:lnTo>
                    <a:pt x="864128" y="1270956"/>
                  </a:lnTo>
                  <a:lnTo>
                    <a:pt x="0" y="1270956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14300"/>
              <a:ext cx="864128" cy="1385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29329" y="3116092"/>
            <a:ext cx="3914671" cy="458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 in live product demonstrations and showroom experiences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exhibitions as awareness platforms, not just sales channels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 authorized showroom network for after-sales trust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FE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294146" y="3116092"/>
            <a:ext cx="3914671" cy="549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digital campaigns on family-oriented messaging (since 54.5% family influence)</a:t>
            </a:r>
          </a:p>
          <a:p>
            <a:pPr marL="604516" lvl="1" indent="-30225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E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engagement with 18–25 age group via Instagram, YouTube, and influencer marketing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FE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FE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73487" cy="10287000"/>
            <a:chOff x="0" y="0"/>
            <a:chExt cx="104651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6515" cy="2709333"/>
            </a:xfrm>
            <a:custGeom>
              <a:avLst/>
              <a:gdLst/>
              <a:ahLst/>
              <a:cxnLst/>
              <a:rect l="l" t="t" r="r" b="b"/>
              <a:pathLst>
                <a:path w="1046515" h="2709333">
                  <a:moveTo>
                    <a:pt x="0" y="0"/>
                  </a:moveTo>
                  <a:lnTo>
                    <a:pt x="1046515" y="0"/>
                  </a:lnTo>
                  <a:lnTo>
                    <a:pt x="104651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9176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046515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7210" y="1028700"/>
            <a:ext cx="7305507" cy="2200911"/>
            <a:chOff x="0" y="0"/>
            <a:chExt cx="1410812" cy="507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0812" cy="507976"/>
            </a:xfrm>
            <a:custGeom>
              <a:avLst/>
              <a:gdLst/>
              <a:ahLst/>
              <a:cxnLst/>
              <a:rect l="l" t="t" r="r" b="b"/>
              <a:pathLst>
                <a:path w="1410812" h="507976">
                  <a:moveTo>
                    <a:pt x="0" y="0"/>
                  </a:moveTo>
                  <a:lnTo>
                    <a:pt x="1410812" y="0"/>
                  </a:lnTo>
                  <a:lnTo>
                    <a:pt x="1410812" y="507976"/>
                  </a:lnTo>
                  <a:lnTo>
                    <a:pt x="0" y="50797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71450"/>
              <a:ext cx="1410812" cy="6794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10030"/>
                </a:lnSpc>
                <a:spcBef>
                  <a:spcPct val="0"/>
                </a:spcBef>
              </a:pPr>
              <a:r>
                <a:rPr lang="en-US" sz="7268" b="1" spc="101" dirty="0">
                  <a:solidFill>
                    <a:srgbClr val="2C2D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CONCLUSION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5690802" y="77881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97579" y="4070351"/>
            <a:ext cx="12310277" cy="537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marketing has evolved from a promotional tool to a core consumer behavior driver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LG's strong brand recall, quality perception, and customer satisfaction are key competitive assets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Samsung's stronger digital visibility poses a growing challenge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future lies in combining product excellence with emotionally engaging digital storytelling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LG must adopt a hybrid approach — manufacturing reliability + modern digital</a:t>
            </a:r>
            <a:r>
              <a:rPr lang="en-US" sz="29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</a:t>
            </a:r>
          </a:p>
          <a:p>
            <a:pPr algn="ctr">
              <a:lnSpc>
                <a:spcPts val="6020"/>
              </a:lnSpc>
            </a:pPr>
            <a:endParaRPr lang="en-US" sz="29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062513" y="-424845"/>
            <a:ext cx="4162975" cy="11048130"/>
            <a:chOff x="0" y="0"/>
            <a:chExt cx="803938" cy="21335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3938" cy="2133574"/>
            </a:xfrm>
            <a:custGeom>
              <a:avLst/>
              <a:gdLst/>
              <a:ahLst/>
              <a:cxnLst/>
              <a:rect l="l" t="t" r="r" b="b"/>
              <a:pathLst>
                <a:path w="803938" h="2133574">
                  <a:moveTo>
                    <a:pt x="0" y="0"/>
                  </a:moveTo>
                  <a:lnTo>
                    <a:pt x="803938" y="0"/>
                  </a:lnTo>
                  <a:lnTo>
                    <a:pt x="803938" y="2133574"/>
                  </a:lnTo>
                  <a:lnTo>
                    <a:pt x="0" y="213357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803938" cy="224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58032" y="1697058"/>
            <a:ext cx="7971935" cy="6892884"/>
            <a:chOff x="0" y="0"/>
            <a:chExt cx="1014292" cy="8770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4292" cy="877001"/>
            </a:xfrm>
            <a:custGeom>
              <a:avLst/>
              <a:gdLst/>
              <a:ahLst/>
              <a:cxnLst/>
              <a:rect l="l" t="t" r="r" b="b"/>
              <a:pathLst>
                <a:path w="1014292" h="877001">
                  <a:moveTo>
                    <a:pt x="0" y="0"/>
                  </a:moveTo>
                  <a:lnTo>
                    <a:pt x="1014292" y="0"/>
                  </a:lnTo>
                  <a:lnTo>
                    <a:pt x="1014292" y="877001"/>
                  </a:lnTo>
                  <a:lnTo>
                    <a:pt x="0" y="877001"/>
                  </a:lnTo>
                  <a:close/>
                </a:path>
              </a:pathLst>
            </a:custGeom>
            <a:solidFill>
              <a:srgbClr val="FFCB13">
                <a:alpha val="8274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014292" cy="896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09081" y="2057400"/>
            <a:ext cx="7239519" cy="6083640"/>
            <a:chOff x="0" y="0"/>
            <a:chExt cx="1398069" cy="11748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8069" cy="1174850"/>
            </a:xfrm>
            <a:custGeom>
              <a:avLst/>
              <a:gdLst/>
              <a:ahLst/>
              <a:cxnLst/>
              <a:rect l="l" t="t" r="r" b="b"/>
              <a:pathLst>
                <a:path w="1398069" h="1174850">
                  <a:moveTo>
                    <a:pt x="0" y="0"/>
                  </a:moveTo>
                  <a:lnTo>
                    <a:pt x="1398069" y="0"/>
                  </a:lnTo>
                  <a:lnTo>
                    <a:pt x="1398069" y="1174850"/>
                  </a:lnTo>
                  <a:lnTo>
                    <a:pt x="0" y="1174850"/>
                  </a:lnTo>
                  <a:close/>
                </a:path>
              </a:pathLst>
            </a:custGeom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1398069" cy="1289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187438" y="3628377"/>
            <a:ext cx="6037664" cy="277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17"/>
              </a:lnSpc>
              <a:spcBef>
                <a:spcPct val="0"/>
              </a:spcBef>
            </a:pPr>
            <a:r>
              <a:rPr lang="en-US" sz="7983" b="1" spc="111" dirty="0">
                <a:solidFill>
                  <a:srgbClr val="2C2D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418</Words>
  <Application>Microsoft Office PowerPoint</Application>
  <PresentationFormat>Custom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Times New Roman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professional business presentation</dc:title>
  <dc:creator>Dell</dc:creator>
  <cp:lastModifiedBy>VINNI TRIPATHI</cp:lastModifiedBy>
  <cp:revision>2</cp:revision>
  <dcterms:created xsi:type="dcterms:W3CDTF">2006-08-16T00:00:00Z</dcterms:created>
  <dcterms:modified xsi:type="dcterms:W3CDTF">2026-06-08T13:22:42Z</dcterms:modified>
  <dc:identifier>DAHL_DqPh-Q</dc:identifier>
</cp:coreProperties>
</file>